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B7FEED-9D3E-402F-BF59-A4BCEFA0E373}" v="2" dt="2026-08-24T17:51:18.8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4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mud Singh" userId="15240a4ca9daea4b" providerId="LiveId" clId="{87A214DC-D6D9-4040-B33A-655B231381EE}"/>
    <pc:docChg chg="undo custSel modSld">
      <pc:chgData name="Kumud Singh" userId="15240a4ca9daea4b" providerId="LiveId" clId="{87A214DC-D6D9-4040-B33A-655B231381EE}" dt="2026-08-24T17:51:23.440" v="53" actId="20577"/>
      <pc:docMkLst>
        <pc:docMk/>
      </pc:docMkLst>
      <pc:sldChg chg="modSp mod">
        <pc:chgData name="Kumud Singh" userId="15240a4ca9daea4b" providerId="LiveId" clId="{87A214DC-D6D9-4040-B33A-655B231381EE}" dt="2026-08-24T17:51:23.440" v="53" actId="20577"/>
        <pc:sldMkLst>
          <pc:docMk/>
          <pc:sldMk cId="0" sldId="291"/>
        </pc:sldMkLst>
        <pc:spChg chg="mod">
          <ac:chgData name="Kumud Singh" userId="15240a4ca9daea4b" providerId="LiveId" clId="{87A214DC-D6D9-4040-B33A-655B231381EE}" dt="2026-08-24T17:51:23.440" v="53" actId="20577"/>
          <ac:spMkLst>
            <pc:docMk/>
            <pc:sldMk cId="0" sldId="291"/>
            <ac:spMk id="10" creationId="{00000000-0000-0000-0000-000000000000}"/>
          </ac:spMkLst>
        </pc:spChg>
      </pc:sldChg>
      <pc:sldChg chg="modSp mod">
        <pc:chgData name="Kumud Singh" userId="15240a4ca9daea4b" providerId="LiveId" clId="{87A214DC-D6D9-4040-B33A-655B231381EE}" dt="2026-08-24T17:47:29.048" v="0" actId="207"/>
        <pc:sldMkLst>
          <pc:docMk/>
          <pc:sldMk cId="2997144140" sldId="294"/>
        </pc:sldMkLst>
        <pc:spChg chg="mod">
          <ac:chgData name="Kumud Singh" userId="15240a4ca9daea4b" providerId="LiveId" clId="{87A214DC-D6D9-4040-B33A-655B231381EE}" dt="2026-08-24T17:47:29.048" v="0" actId="207"/>
          <ac:spMkLst>
            <pc:docMk/>
            <pc:sldMk cId="2997144140" sldId="294"/>
            <ac:spMk id="17411" creationId="{00000000-0000-0000-0000-000000000000}"/>
          </ac:spMkLst>
        </pc:spChg>
      </pc:sldChg>
      <pc:sldChg chg="modSp mod">
        <pc:chgData name="Kumud Singh" userId="15240a4ca9daea4b" providerId="LiveId" clId="{87A214DC-D6D9-4040-B33A-655B231381EE}" dt="2026-08-24T17:48:33.191" v="5" actId="207"/>
        <pc:sldMkLst>
          <pc:docMk/>
          <pc:sldMk cId="3916788613" sldId="296"/>
        </pc:sldMkLst>
        <pc:spChg chg="mod">
          <ac:chgData name="Kumud Singh" userId="15240a4ca9daea4b" providerId="LiveId" clId="{87A214DC-D6D9-4040-B33A-655B231381EE}" dt="2026-08-24T17:47:59.628" v="1" actId="207"/>
          <ac:spMkLst>
            <pc:docMk/>
            <pc:sldMk cId="3916788613" sldId="296"/>
            <ac:spMk id="17411" creationId="{00000000-0000-0000-0000-000000000000}"/>
          </ac:spMkLst>
        </pc:spChg>
        <pc:spChg chg="mod">
          <ac:chgData name="Kumud Singh" userId="15240a4ca9daea4b" providerId="LiveId" clId="{87A214DC-D6D9-4040-B33A-655B231381EE}" dt="2026-08-24T17:48:18.292" v="3" actId="207"/>
          <ac:spMkLst>
            <pc:docMk/>
            <pc:sldMk cId="3916788613" sldId="296"/>
            <ac:spMk id="17413" creationId="{00000000-0000-0000-0000-000000000000}"/>
          </ac:spMkLst>
        </pc:spChg>
        <pc:spChg chg="mod">
          <ac:chgData name="Kumud Singh" userId="15240a4ca9daea4b" providerId="LiveId" clId="{87A214DC-D6D9-4040-B33A-655B231381EE}" dt="2026-08-24T17:48:33.191" v="5" actId="207"/>
          <ac:spMkLst>
            <pc:docMk/>
            <pc:sldMk cId="3916788613" sldId="296"/>
            <ac:spMk id="1741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 wrap="square" anchor="t"/>
          <a:lstStyle/>
          <a:p>
            <a:pPr algn="ctr"/>
            <a:r>
              <a:rPr sz="2400" b="1" dirty="0">
                <a:solidFill>
                  <a:srgbClr val="183A5A"/>
                </a:solidFill>
                <a:latin typeface="Aptos"/>
              </a:rPr>
              <a:t>AI FLOOD PREDICTION PLATFORM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281276"/>
            <a:ext cx="10363200" cy="2076450"/>
          </a:xfrm>
        </p:spPr>
        <p:txBody>
          <a:bodyPr/>
          <a:lstStyle/>
          <a:p>
            <a:r>
              <a:rPr lang="en-US" sz="2400" b="1" dirty="0">
                <a:solidFill>
                  <a:srgbClr val="143A5A"/>
                </a:solidFill>
                <a:latin typeface="Garamond" panose="02020404030301010803" pitchFamily="18" charset="0"/>
              </a:rPr>
              <a:t>SMART INDIA HACKATHON 2026</a:t>
            </a:r>
            <a:br>
              <a:rPr lang="en-US" sz="2400" b="1" dirty="0">
                <a:solidFill>
                  <a:srgbClr val="143A5A"/>
                </a:solidFill>
                <a:latin typeface="Garamond" panose="02020404030301010803" pitchFamily="18" charset="0"/>
              </a:rPr>
            </a:b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6906" y="2401214"/>
            <a:ext cx="6220999" cy="3416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sz="2000" dirty="0"/>
              <a:t>• </a:t>
            </a:r>
            <a:r>
              <a:rPr lang="en-US" sz="2000" b="1" dirty="0"/>
              <a:t>Problem Statement Title </a:t>
            </a:r>
            <a:r>
              <a:rPr lang="en-US" sz="2000" dirty="0"/>
              <a:t>– AI Flood Prediction Platform</a:t>
            </a:r>
          </a:p>
          <a:p>
            <a:endParaRPr lang="en-US" sz="2000" dirty="0"/>
          </a:p>
          <a:p>
            <a:r>
              <a:rPr lang="en-US" sz="2000" b="1" dirty="0"/>
              <a:t>• Theme -</a:t>
            </a:r>
            <a:r>
              <a:rPr lang="en-US" sz="2000" dirty="0"/>
              <a:t>  Disaster Management.</a:t>
            </a:r>
          </a:p>
          <a:p>
            <a:endParaRPr lang="en-US" sz="2000" b="1" dirty="0"/>
          </a:p>
          <a:p>
            <a:r>
              <a:rPr lang="en-US" sz="2000" b="1" dirty="0"/>
              <a:t>• PS Category -</a:t>
            </a:r>
            <a:r>
              <a:rPr lang="en-US" sz="2000" dirty="0"/>
              <a:t>  Software.</a:t>
            </a:r>
          </a:p>
          <a:p>
            <a:endParaRPr lang="en-US" sz="2000" dirty="0"/>
          </a:p>
          <a:p>
            <a:r>
              <a:rPr lang="en-US" sz="2000" b="1" dirty="0"/>
              <a:t>• Team ID </a:t>
            </a:r>
            <a:r>
              <a:rPr lang="en-US" sz="2000" b="1"/>
              <a:t>-    NA</a:t>
            </a:r>
            <a:endParaRPr lang="en-US" sz="2000" dirty="0"/>
          </a:p>
          <a:p>
            <a:endParaRPr lang="en-US" sz="2000" dirty="0"/>
          </a:p>
          <a:p>
            <a:r>
              <a:rPr lang="en-US" sz="2000" b="1" dirty="0"/>
              <a:t>• Team Name -</a:t>
            </a:r>
            <a:r>
              <a:rPr lang="en-US" sz="2000" dirty="0"/>
              <a:t> The AI Syndicate.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30593" y="222231"/>
            <a:ext cx="10972800" cy="1143000"/>
          </a:xfrm>
        </p:spPr>
        <p:txBody>
          <a:bodyPr wrap="square" lIns="54864" tIns="54864" rIns="54864" bIns="54864" anchor="ctr">
            <a:normAutofit/>
          </a:bodyPr>
          <a:lstStyle/>
          <a:p>
            <a:pPr algn="ctr" eaLnBrk="1" hangingPunct="1"/>
            <a:r>
              <a:rPr sz="2400" b="1" dirty="0">
                <a:solidFill>
                  <a:srgbClr val="232D37"/>
                </a:solidFill>
                <a:latin typeface="Arial"/>
              </a:rPr>
              <a:t>AI FLOOD PREDICTION PLATFORM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 lIns="54864" tIns="54864" rIns="54864" bIns="54864" anchor="t">
            <a:normAutofit/>
          </a:bodyPr>
          <a:lstStyle/>
          <a:p>
            <a:pPr algn="r"/>
            <a:r>
              <a:rPr sz="900" b="0">
                <a:latin typeface="Arial"/>
              </a:rPr>
              <a:t>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 wrap="square" lIns="54864" tIns="54864" rIns="54864" bIns="54864" anchor="t">
            <a:normAutofit/>
          </a:bodyPr>
          <a:lstStyle/>
          <a:p>
            <a:pPr>
              <a:defRPr/>
            </a:pPr>
            <a:r>
              <a:rPr sz="900" b="1">
                <a:latin typeface="Arial"/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54864" tIns="54864" rIns="54864" bIns="54864" rtlCol="0" anchor="t">
            <a:normAutofit/>
          </a:bodyPr>
          <a:lstStyle/>
          <a:p>
            <a:pPr algn="ctr"/>
            <a:r>
              <a:rPr sz="900" b="1" dirty="0">
                <a:latin typeface="Arial"/>
              </a:rPr>
              <a:t>THE AI SYNDICATE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74" name="Rounded Rectangle 15373"/>
          <p:cNvSpPr/>
          <p:nvPr/>
        </p:nvSpPr>
        <p:spPr>
          <a:xfrm>
            <a:off x="658368" y="1298448"/>
            <a:ext cx="5257800" cy="475488"/>
          </a:xfrm>
          <a:prstGeom prst="roundRect">
            <a:avLst/>
          </a:prstGeom>
          <a:solidFill>
            <a:srgbClr val="143A5A"/>
          </a:solidFill>
          <a:ln w="15240">
            <a:solidFill>
              <a:srgbClr val="14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PROPOSED SOLUTION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765146" y="1892808"/>
            <a:ext cx="5074920" cy="115391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 fontScale="92500"/>
          </a:bodyPr>
          <a:lstStyle/>
          <a:p>
            <a:pPr algn="l"/>
            <a:r>
              <a:rPr sz="1400" b="0" dirty="0">
                <a:solidFill>
                  <a:srgbClr val="232D37"/>
                </a:solidFill>
                <a:latin typeface="Arial"/>
              </a:rPr>
              <a:t>AI Flood Prediction Platform continuously combines historical rainfall, NASA IMERG satellite precipitation data, live weather and geospatial factors to estimate flood probability for a location. The prediction is converted into risk levels and automatic alerts, then connected to GIS, SOS and response coordination.</a:t>
            </a:r>
          </a:p>
        </p:txBody>
      </p:sp>
      <p:sp>
        <p:nvSpPr>
          <p:cNvPr id="15376" name="TextBox 15375"/>
          <p:cNvSpPr txBox="1"/>
          <p:nvPr/>
        </p:nvSpPr>
        <p:spPr>
          <a:xfrm>
            <a:off x="787793" y="3165630"/>
            <a:ext cx="5029200" cy="307777"/>
          </a:xfrm>
          <a:prstGeom prst="rect">
            <a:avLst/>
          </a:prstGeom>
          <a:noFill/>
        </p:spPr>
        <p:txBody>
          <a:bodyPr wrap="square" lIns="54864" tIns="54864" rIns="54864" bIns="54864" anchor="t">
            <a:normAutofit fontScale="92500" lnSpcReduction="10000"/>
          </a:bodyPr>
          <a:lstStyle/>
          <a:p>
            <a:pPr algn="l"/>
            <a:r>
              <a:rPr sz="1500" b="1">
                <a:latin typeface="Arial"/>
              </a:rPr>
              <a:t>HOW IT SOLVES THE PROBLEM</a:t>
            </a:r>
          </a:p>
        </p:txBody>
      </p:sp>
      <p:sp>
        <p:nvSpPr>
          <p:cNvPr id="15377" name="TextBox 15376"/>
          <p:cNvSpPr txBox="1"/>
          <p:nvPr/>
        </p:nvSpPr>
        <p:spPr>
          <a:xfrm>
            <a:off x="806447" y="3581407"/>
            <a:ext cx="4800600" cy="276999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 fontScale="92500" lnSpcReduction="10000"/>
          </a:bodyPr>
          <a:lstStyle/>
          <a:p>
            <a:pPr algn="l"/>
            <a:r>
              <a:rPr sz="1280" b="0">
                <a:solidFill>
                  <a:srgbClr val="232D37"/>
                </a:solidFill>
                <a:latin typeface="Arial"/>
              </a:rPr>
              <a:t>• Historical + live rainfall/weather monitoring</a:t>
            </a:r>
          </a:p>
        </p:txBody>
      </p:sp>
      <p:sp>
        <p:nvSpPr>
          <p:cNvPr id="15378" name="TextBox 15377"/>
          <p:cNvSpPr txBox="1"/>
          <p:nvPr/>
        </p:nvSpPr>
        <p:spPr>
          <a:xfrm>
            <a:off x="806447" y="3951553"/>
            <a:ext cx="4800600" cy="307777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280" b="0">
                <a:solidFill>
                  <a:srgbClr val="232D37"/>
                </a:solidFill>
                <a:latin typeface="Arial"/>
              </a:rPr>
              <a:t>• District/location-aware GIS risk visualization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806447" y="4360986"/>
            <a:ext cx="4800600" cy="276999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 fontScale="92500" lnSpcReduction="10000"/>
          </a:bodyPr>
          <a:lstStyle/>
          <a:p>
            <a:pPr algn="l"/>
            <a:r>
              <a:rPr sz="1280" b="0">
                <a:solidFill>
                  <a:srgbClr val="232D37"/>
                </a:solidFill>
                <a:latin typeface="Arial"/>
              </a:rPr>
              <a:t>• ML converts multiple flood factors into probability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806447" y="4753474"/>
            <a:ext cx="4800600" cy="307777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 algn="l"/>
            <a:r>
              <a:rPr sz="1280" b="0">
                <a:solidFill>
                  <a:srgbClr val="232D37"/>
                </a:solidFill>
                <a:latin typeface="Arial"/>
              </a:rPr>
              <a:t>• Automatic HIGH / CRITICAL alerts</a:t>
            </a:r>
            <a:endParaRPr sz="1400" b="0" dirty="0">
              <a:solidFill>
                <a:srgbClr val="2D3741"/>
              </a:solidFill>
              <a:latin typeface="Aptos"/>
            </a:endParaRPr>
          </a:p>
        </p:txBody>
      </p:sp>
      <p:sp>
        <p:nvSpPr>
          <p:cNvPr id="15381" name="TextBox 15380"/>
          <p:cNvSpPr txBox="1"/>
          <p:nvPr/>
        </p:nvSpPr>
        <p:spPr>
          <a:xfrm>
            <a:off x="806447" y="5073898"/>
            <a:ext cx="4800600" cy="276999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 fontScale="92500" lnSpcReduction="10000"/>
          </a:bodyPr>
          <a:lstStyle/>
          <a:p>
            <a:pPr algn="l"/>
            <a:r>
              <a:rPr sz="1280" b="0">
                <a:solidFill>
                  <a:srgbClr val="232D37"/>
                </a:solidFill>
                <a:latin typeface="Arial"/>
              </a:rPr>
              <a:t>• Prediction, SOS and response data in one platform</a:t>
            </a:r>
            <a:endParaRPr sz="1200" b="0" dirty="0">
              <a:solidFill>
                <a:srgbClr val="2D3741"/>
              </a:solidFill>
              <a:latin typeface="Aptos"/>
            </a:endParaRPr>
          </a:p>
        </p:txBody>
      </p:sp>
      <p:sp>
        <p:nvSpPr>
          <p:cNvPr id="15382" name="Rounded Rectangle 15381"/>
          <p:cNvSpPr/>
          <p:nvPr/>
        </p:nvSpPr>
        <p:spPr>
          <a:xfrm>
            <a:off x="6365633" y="1314836"/>
            <a:ext cx="5074920" cy="475488"/>
          </a:xfrm>
          <a:prstGeom prst="roundRect">
            <a:avLst/>
          </a:prstGeom>
          <a:solidFill>
            <a:srgbClr val="186EB4"/>
          </a:solidFill>
          <a:ln w="15240">
            <a:solidFill>
              <a:srgbClr val="18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WORKING PROTOTYPE</a:t>
            </a:r>
          </a:p>
        </p:txBody>
      </p:sp>
      <p:sp>
        <p:nvSpPr>
          <p:cNvPr id="15383" name="TextBox 15382"/>
          <p:cNvSpPr txBox="1"/>
          <p:nvPr/>
        </p:nvSpPr>
        <p:spPr>
          <a:xfrm>
            <a:off x="6502793" y="1884032"/>
            <a:ext cx="4800600" cy="9115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r>
              <a:rPr sz="1320" b="0" dirty="0">
                <a:solidFill>
                  <a:srgbClr val="232D37"/>
                </a:solidFill>
                <a:latin typeface="Arial"/>
              </a:rPr>
              <a:t>Working prototype integrates the Random Forest model, live weather, risk engine, </a:t>
            </a:r>
            <a:r>
              <a:rPr lang="en-US" sz="1320" dirty="0" err="1">
                <a:solidFill>
                  <a:srgbClr val="232D37"/>
                </a:solidFill>
                <a:latin typeface="Arial"/>
              </a:rPr>
              <a:t>fa</a:t>
            </a:r>
            <a:r>
              <a:rPr sz="1320" b="0" dirty="0" err="1">
                <a:solidFill>
                  <a:srgbClr val="232D37"/>
                </a:solidFill>
                <a:latin typeface="Arial"/>
              </a:rPr>
              <a:t>backend</a:t>
            </a:r>
            <a:r>
              <a:rPr sz="1320" b="0" dirty="0">
                <a:solidFill>
                  <a:srgbClr val="232D37"/>
                </a:solidFill>
                <a:latin typeface="Arial"/>
              </a:rPr>
              <a:t>, database and GIS dashboard for continuous flood-risk monitoring.</a:t>
            </a:r>
          </a:p>
        </p:txBody>
      </p:sp>
      <p:sp>
        <p:nvSpPr>
          <p:cNvPr id="15393" name="TextBox 15392"/>
          <p:cNvSpPr txBox="1"/>
          <p:nvPr/>
        </p:nvSpPr>
        <p:spPr>
          <a:xfrm>
            <a:off x="6342194" y="3096937"/>
            <a:ext cx="4846320" cy="307777"/>
          </a:xfrm>
          <a:prstGeom prst="rect">
            <a:avLst/>
          </a:prstGeom>
          <a:noFill/>
        </p:spPr>
        <p:txBody>
          <a:bodyPr wrap="square" lIns="54864" tIns="54864" rIns="54864" bIns="54864" anchor="t">
            <a:normAutofit fontScale="92500" lnSpcReduction="10000"/>
          </a:bodyPr>
          <a:lstStyle/>
          <a:p>
            <a:pPr algn="l"/>
            <a:r>
              <a:rPr lang="en-US" sz="1500" b="1" dirty="0">
                <a:latin typeface="Arial"/>
              </a:rPr>
              <a:t>            </a:t>
            </a:r>
            <a:r>
              <a:rPr sz="1500" b="1" dirty="0">
                <a:latin typeface="Arial"/>
              </a:rPr>
              <a:t>PROTOTYPE FEATURES</a:t>
            </a:r>
            <a:r>
              <a:rPr lang="en-US" sz="1500" b="1" dirty="0">
                <a:latin typeface="Arial"/>
              </a:rPr>
              <a:t>   </a:t>
            </a:r>
            <a:endParaRPr sz="1500" b="1" dirty="0">
              <a:latin typeface="Arial"/>
            </a:endParaRPr>
          </a:p>
        </p:txBody>
      </p:sp>
      <p:sp>
        <p:nvSpPr>
          <p:cNvPr id="15394" name="TextBox 15393"/>
          <p:cNvSpPr txBox="1"/>
          <p:nvPr/>
        </p:nvSpPr>
        <p:spPr>
          <a:xfrm>
            <a:off x="6366764" y="3508834"/>
            <a:ext cx="2331720" cy="522366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 fontScale="85000" lnSpcReduction="20000"/>
          </a:bodyPr>
          <a:lstStyle/>
          <a:p>
            <a:pPr algn="l"/>
            <a:r>
              <a:rPr sz="1280" b="0" dirty="0">
                <a:solidFill>
                  <a:srgbClr val="232D37"/>
                </a:solidFill>
                <a:latin typeface="Arial"/>
              </a:rPr>
              <a:t>• </a:t>
            </a:r>
            <a:r>
              <a:rPr b="0" dirty="0">
                <a:solidFill>
                  <a:srgbClr val="232D37"/>
                </a:solidFill>
                <a:latin typeface="Aptos" panose="020B0004020202020204" pitchFamily="34" charset="0"/>
              </a:rPr>
              <a:t>User registration &amp; role-based access</a:t>
            </a:r>
          </a:p>
        </p:txBody>
      </p:sp>
      <p:sp>
        <p:nvSpPr>
          <p:cNvPr id="15395" name="TextBox 15394"/>
          <p:cNvSpPr txBox="1"/>
          <p:nvPr/>
        </p:nvSpPr>
        <p:spPr>
          <a:xfrm>
            <a:off x="6327648" y="3999982"/>
            <a:ext cx="2331720" cy="276999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 fontScale="92500" lnSpcReduction="10000"/>
          </a:bodyPr>
          <a:lstStyle/>
          <a:p>
            <a:pPr algn="l"/>
            <a:r>
              <a:rPr sz="1280" b="0" dirty="0">
                <a:solidFill>
                  <a:srgbClr val="232D37"/>
                </a:solidFill>
                <a:latin typeface="Arial"/>
              </a:rPr>
              <a:t>• One-Tap SOS + </a:t>
            </a:r>
            <a:r>
              <a:rPr lang="en-US" sz="1280" b="0" dirty="0">
                <a:solidFill>
                  <a:srgbClr val="232D37"/>
                </a:solidFill>
                <a:latin typeface="Arial"/>
              </a:rPr>
              <a:t>Detailed</a:t>
            </a:r>
            <a:r>
              <a:rPr sz="1280" b="0" dirty="0">
                <a:solidFill>
                  <a:srgbClr val="232D37"/>
                </a:solidFill>
                <a:latin typeface="Arial"/>
              </a:rPr>
              <a:t> SOS</a:t>
            </a:r>
          </a:p>
        </p:txBody>
      </p:sp>
      <p:sp>
        <p:nvSpPr>
          <p:cNvPr id="15396" name="TextBox 15395"/>
          <p:cNvSpPr txBox="1"/>
          <p:nvPr/>
        </p:nvSpPr>
        <p:spPr>
          <a:xfrm>
            <a:off x="6309360" y="4344088"/>
            <a:ext cx="2331720" cy="276999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 fontScale="92500" lnSpcReduction="10000"/>
          </a:bodyPr>
          <a:lstStyle/>
          <a:p>
            <a:pPr algn="l"/>
            <a:r>
              <a:rPr sz="1280" b="0">
                <a:solidFill>
                  <a:srgbClr val="232D37"/>
                </a:solidFill>
                <a:latin typeface="Arial"/>
              </a:rPr>
              <a:t>• GPS / location-aware incidents</a:t>
            </a:r>
          </a:p>
        </p:txBody>
      </p:sp>
      <p:sp>
        <p:nvSpPr>
          <p:cNvPr id="15397" name="TextBox 15396"/>
          <p:cNvSpPr txBox="1"/>
          <p:nvPr/>
        </p:nvSpPr>
        <p:spPr>
          <a:xfrm>
            <a:off x="6327648" y="4736321"/>
            <a:ext cx="2331720" cy="276999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 fontScale="92500" lnSpcReduction="10000"/>
          </a:bodyPr>
          <a:lstStyle/>
          <a:p>
            <a:pPr algn="l"/>
            <a:r>
              <a:rPr sz="1280" b="0">
                <a:solidFill>
                  <a:srgbClr val="232D37"/>
                </a:solidFill>
                <a:latin typeface="Arial"/>
              </a:rPr>
              <a:t>• Disaster reports &amp; alerts</a:t>
            </a:r>
          </a:p>
        </p:txBody>
      </p:sp>
      <p:sp>
        <p:nvSpPr>
          <p:cNvPr id="15398" name="TextBox 15397"/>
          <p:cNvSpPr txBox="1"/>
          <p:nvPr/>
        </p:nvSpPr>
        <p:spPr>
          <a:xfrm>
            <a:off x="8737600" y="3581407"/>
            <a:ext cx="2331720" cy="276999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 fontScale="92500" lnSpcReduction="10000"/>
          </a:bodyPr>
          <a:lstStyle/>
          <a:p>
            <a:pPr algn="l"/>
            <a:r>
              <a:rPr sz="1280" b="0">
                <a:solidFill>
                  <a:srgbClr val="232D37"/>
                </a:solidFill>
                <a:latin typeface="Arial"/>
              </a:rPr>
              <a:t>• ML flood prediction</a:t>
            </a:r>
          </a:p>
        </p:txBody>
      </p:sp>
      <p:sp>
        <p:nvSpPr>
          <p:cNvPr id="15399" name="TextBox 15398"/>
          <p:cNvSpPr txBox="1"/>
          <p:nvPr/>
        </p:nvSpPr>
        <p:spPr>
          <a:xfrm>
            <a:off x="8737600" y="3991515"/>
            <a:ext cx="2331720" cy="276999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 fontScale="92500" lnSpcReduction="10000"/>
          </a:bodyPr>
          <a:lstStyle/>
          <a:p>
            <a:pPr algn="l"/>
            <a:r>
              <a:rPr sz="1280" b="0">
                <a:solidFill>
                  <a:srgbClr val="232D37"/>
                </a:solidFill>
                <a:latin typeface="Arial"/>
              </a:rPr>
              <a:t>• Live weather + risk engine</a:t>
            </a:r>
          </a:p>
        </p:txBody>
      </p:sp>
      <p:sp>
        <p:nvSpPr>
          <p:cNvPr id="15400" name="TextBox 15399"/>
          <p:cNvSpPr txBox="1"/>
          <p:nvPr/>
        </p:nvSpPr>
        <p:spPr>
          <a:xfrm>
            <a:off x="8750808" y="4316251"/>
            <a:ext cx="2331720" cy="276999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 fontScale="92500" lnSpcReduction="10000"/>
          </a:bodyPr>
          <a:lstStyle/>
          <a:p>
            <a:pPr algn="l"/>
            <a:r>
              <a:rPr sz="1280" b="0">
                <a:solidFill>
                  <a:srgbClr val="232D37"/>
                </a:solidFill>
                <a:latin typeface="Arial"/>
              </a:rPr>
              <a:t>• Volunteers &amp; rescue teams</a:t>
            </a:r>
          </a:p>
        </p:txBody>
      </p:sp>
      <p:sp>
        <p:nvSpPr>
          <p:cNvPr id="15401" name="TextBox 15400"/>
          <p:cNvSpPr txBox="1"/>
          <p:nvPr/>
        </p:nvSpPr>
        <p:spPr>
          <a:xfrm>
            <a:off x="8750808" y="4661498"/>
            <a:ext cx="2331720" cy="276999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 fontScale="85000" lnSpcReduction="10000"/>
          </a:bodyPr>
          <a:lstStyle/>
          <a:p>
            <a:pPr algn="l"/>
            <a:r>
              <a:rPr sz="1280" b="0">
                <a:solidFill>
                  <a:srgbClr val="232D37"/>
                </a:solidFill>
                <a:latin typeface="Arial"/>
              </a:rPr>
              <a:t>• Authority dashboard + GIS map</a:t>
            </a:r>
          </a:p>
        </p:txBody>
      </p:sp>
      <p:sp>
        <p:nvSpPr>
          <p:cNvPr id="15402" name="Rounded Rectangle 15401"/>
          <p:cNvSpPr/>
          <p:nvPr/>
        </p:nvSpPr>
        <p:spPr>
          <a:xfrm>
            <a:off x="6236207" y="5532120"/>
            <a:ext cx="5067185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rmAutofit lnSpcReduction="10000"/>
          </a:bodyPr>
          <a:lstStyle/>
          <a:p>
            <a:pPr algn="ctr"/>
            <a:r>
              <a:rPr sz="1250" b="0" dirty="0">
                <a:solidFill>
                  <a:srgbClr val="232D37"/>
                </a:solidFill>
                <a:latin typeface="Arial"/>
              </a:rPr>
              <a:t>CORE IDEA: Data → Flood Probability → Risk Level → Automatic Alert → Coordinated Response</a:t>
            </a:r>
          </a:p>
        </p:txBody>
      </p:sp>
      <p:sp>
        <p:nvSpPr>
          <p:cNvPr id="15403" name="Rounded Rectangle 15402"/>
          <p:cNvSpPr/>
          <p:nvPr/>
        </p:nvSpPr>
        <p:spPr>
          <a:xfrm>
            <a:off x="329773" y="5532120"/>
            <a:ext cx="5494955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rmAutofit lnSpcReduction="10000"/>
          </a:bodyPr>
          <a:lstStyle/>
          <a:p>
            <a:pPr algn="ctr"/>
            <a:r>
              <a:rPr sz="1250" b="0" dirty="0">
                <a:solidFill>
                  <a:srgbClr val="232D37"/>
                </a:solidFill>
                <a:latin typeface="Arial"/>
              </a:rPr>
              <a:t>UNIQUE VALUE: Prediction + GIS + Alerts + SOS + Response Coordination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94360" y="205899"/>
            <a:ext cx="10972800" cy="1143000"/>
          </a:xfrm>
        </p:spPr>
        <p:txBody>
          <a:bodyPr wrap="square" lIns="54864" tIns="54864" rIns="54864" bIns="54864" anchor="ctr">
            <a:normAutofit/>
          </a:bodyPr>
          <a:lstStyle/>
          <a:p>
            <a:pPr algn="ctr" eaLnBrk="1" hangingPunct="1"/>
            <a:r>
              <a:rPr sz="2400" b="1" dirty="0">
                <a:solidFill>
                  <a:srgbClr val="232D37"/>
                </a:solidFill>
                <a:latin typeface="Arial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94360" y="1234440"/>
            <a:ext cx="1097280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 lIns="54864" tIns="54864" rIns="54864" bIns="54864" anchor="t">
            <a:normAutofit/>
          </a:bodyPr>
          <a:lstStyle/>
          <a:p>
            <a:pPr algn="r"/>
            <a:r>
              <a:rPr sz="900" b="0">
                <a:latin typeface="Arial"/>
              </a:rPr>
              <a:t>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 wrap="square" lIns="54864" tIns="54864" rIns="54864" bIns="54864" anchor="ctr">
            <a:normAutofit/>
          </a:bodyPr>
          <a:lstStyle/>
          <a:p>
            <a:r>
              <a:rPr sz="900" b="0">
                <a:solidFill>
                  <a:srgbClr val="788791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54864" tIns="54864" rIns="54864" bIns="54864" rtlCol="0" anchor="ctr">
            <a:normAutofit/>
          </a:bodyPr>
          <a:lstStyle/>
          <a:p>
            <a:r>
              <a:rPr sz="900" b="1">
                <a:solidFill>
                  <a:srgbClr val="232D37"/>
                </a:solidFill>
                <a:latin typeface="Arial"/>
              </a:rPr>
              <a:t>THE AI SYNDICATE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685800" y="1417320"/>
            <a:ext cx="1965960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rmAutofit/>
          </a:bodyPr>
          <a:lstStyle/>
          <a:p>
            <a:pPr algn="ctr"/>
            <a:r>
              <a:rPr sz="1280" b="0">
                <a:solidFill>
                  <a:srgbClr val="232D37"/>
                </a:solidFill>
                <a:latin typeface="Arial"/>
              </a:rPr>
              <a:t>Frontend</a:t>
            </a:r>
            <a:br/>
            <a:r>
              <a:rPr sz="1280" b="0">
                <a:solidFill>
                  <a:srgbClr val="232D37"/>
                </a:solidFill>
                <a:latin typeface="Arial"/>
              </a:rPr>
              <a:t>Next.js + Leaflet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2788920" y="1417320"/>
            <a:ext cx="1965960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rmAutofit/>
          </a:bodyPr>
          <a:lstStyle/>
          <a:p>
            <a:pPr algn="ctr"/>
            <a:r>
              <a:rPr sz="1280" b="0" dirty="0">
                <a:solidFill>
                  <a:srgbClr val="232D37"/>
                </a:solidFill>
                <a:latin typeface="Arial"/>
              </a:rPr>
              <a:t>Backend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892040" y="1417320"/>
            <a:ext cx="1965960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rmAutofit fontScale="92500"/>
          </a:bodyPr>
          <a:lstStyle/>
          <a:p>
            <a:pPr algn="ctr"/>
            <a:r>
              <a:rPr sz="1280" b="0">
                <a:solidFill>
                  <a:srgbClr val="232D37"/>
                </a:solidFill>
                <a:latin typeface="Arial"/>
              </a:rPr>
              <a:t>AI / ML</a:t>
            </a:r>
            <a:br/>
            <a:r>
              <a:rPr sz="1280" b="0">
                <a:solidFill>
                  <a:srgbClr val="232D37"/>
                </a:solidFill>
                <a:latin typeface="Arial"/>
              </a:rPr>
              <a:t>Python + Random Forest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995160" y="1417320"/>
            <a:ext cx="1965960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rmAutofit/>
          </a:bodyPr>
          <a:lstStyle/>
          <a:p>
            <a:pPr algn="ctr"/>
            <a:r>
              <a:rPr sz="1280" b="0">
                <a:solidFill>
                  <a:srgbClr val="232D37"/>
                </a:solidFill>
                <a:latin typeface="Arial"/>
              </a:rPr>
              <a:t>Data Layer</a:t>
            </a:r>
            <a:br/>
            <a:r>
              <a:rPr sz="1280" b="0">
                <a:solidFill>
                  <a:srgbClr val="232D37"/>
                </a:solidFill>
                <a:latin typeface="Arial"/>
              </a:rPr>
              <a:t>Rainfall + Weather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9098280" y="1417320"/>
            <a:ext cx="1965960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rmAutofit/>
          </a:bodyPr>
          <a:lstStyle/>
          <a:p>
            <a:pPr algn="ctr"/>
            <a:r>
              <a:rPr sz="1280" b="0">
                <a:solidFill>
                  <a:srgbClr val="232D37"/>
                </a:solidFill>
                <a:latin typeface="Arial"/>
              </a:rPr>
              <a:t>Security</a:t>
            </a:r>
            <a:br/>
            <a:r>
              <a:rPr sz="1280" b="0">
                <a:solidFill>
                  <a:srgbClr val="232D37"/>
                </a:solidFill>
                <a:latin typeface="Arial"/>
              </a:rPr>
              <a:t>Auth + Roles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315967" y="2449948"/>
            <a:ext cx="155448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rmAutofit/>
          </a:bodyPr>
          <a:lstStyle/>
          <a:p>
            <a:pPr algn="ctr"/>
            <a:r>
              <a:rPr sz="1280" b="0" dirty="0">
                <a:solidFill>
                  <a:srgbClr val="232D37"/>
                </a:solidFill>
                <a:latin typeface="Arial"/>
              </a:rPr>
              <a:t>User / Report</a:t>
            </a:r>
          </a:p>
        </p:txBody>
      </p:sp>
      <p:cxnSp>
        <p:nvCxnSpPr>
          <p:cNvPr id="17417" name="Connector 17416"/>
          <p:cNvCxnSpPr/>
          <p:nvPr/>
        </p:nvCxnSpPr>
        <p:spPr>
          <a:xfrm>
            <a:off x="2258568" y="2688336"/>
            <a:ext cx="210312" cy="0"/>
          </a:xfrm>
          <a:prstGeom prst="line">
            <a:avLst/>
          </a:prstGeom>
          <a:ln w="19050">
            <a:solidFill>
              <a:srgbClr val="B4C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8" name="Rounded Rectangle 17417"/>
          <p:cNvSpPr/>
          <p:nvPr/>
        </p:nvSpPr>
        <p:spPr>
          <a:xfrm>
            <a:off x="704088" y="2449948"/>
            <a:ext cx="155448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rmAutofit/>
          </a:bodyPr>
          <a:lstStyle/>
          <a:p>
            <a:pPr algn="ctr"/>
            <a:r>
              <a:rPr sz="1280" b="0">
                <a:solidFill>
                  <a:srgbClr val="232D37"/>
                </a:solidFill>
                <a:latin typeface="Arial"/>
              </a:rPr>
              <a:t>GPS + Weather</a:t>
            </a:r>
          </a:p>
        </p:txBody>
      </p:sp>
      <p:cxnSp>
        <p:nvCxnSpPr>
          <p:cNvPr id="17419" name="Connector 17418"/>
          <p:cNvCxnSpPr/>
          <p:nvPr/>
        </p:nvCxnSpPr>
        <p:spPr>
          <a:xfrm>
            <a:off x="4087368" y="2688336"/>
            <a:ext cx="210312" cy="0"/>
          </a:xfrm>
          <a:prstGeom prst="line">
            <a:avLst/>
          </a:prstGeom>
          <a:ln w="19050">
            <a:solidFill>
              <a:srgbClr val="B4C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0" name="Rounded Rectangle 17419"/>
          <p:cNvSpPr/>
          <p:nvPr/>
        </p:nvSpPr>
        <p:spPr>
          <a:xfrm>
            <a:off x="2500884" y="2433329"/>
            <a:ext cx="155448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rmAutofit/>
          </a:bodyPr>
          <a:lstStyle/>
          <a:p>
            <a:pPr algn="ctr"/>
            <a:r>
              <a:rPr sz="1280" b="0">
                <a:solidFill>
                  <a:srgbClr val="232D37"/>
                </a:solidFill>
                <a:latin typeface="Arial"/>
              </a:rPr>
              <a:t>AI Prediction</a:t>
            </a:r>
          </a:p>
        </p:txBody>
      </p:sp>
      <p:cxnSp>
        <p:nvCxnSpPr>
          <p:cNvPr id="17421" name="Connector 17420"/>
          <p:cNvCxnSpPr/>
          <p:nvPr/>
        </p:nvCxnSpPr>
        <p:spPr>
          <a:xfrm>
            <a:off x="5916168" y="2688336"/>
            <a:ext cx="210312" cy="0"/>
          </a:xfrm>
          <a:prstGeom prst="line">
            <a:avLst/>
          </a:prstGeom>
          <a:ln w="19050">
            <a:solidFill>
              <a:srgbClr val="B4C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2" name="Rounded Rectangle 17421"/>
          <p:cNvSpPr/>
          <p:nvPr/>
        </p:nvSpPr>
        <p:spPr>
          <a:xfrm>
            <a:off x="6172200" y="2423160"/>
            <a:ext cx="155448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rmAutofit/>
          </a:bodyPr>
          <a:lstStyle/>
          <a:p>
            <a:pPr algn="ctr"/>
            <a:r>
              <a:rPr sz="1280" b="0">
                <a:solidFill>
                  <a:srgbClr val="232D37"/>
                </a:solidFill>
                <a:latin typeface="Arial"/>
              </a:rPr>
              <a:t>Risk / Priority</a:t>
            </a:r>
          </a:p>
        </p:txBody>
      </p:sp>
      <p:cxnSp>
        <p:nvCxnSpPr>
          <p:cNvPr id="17423" name="Connector 17422"/>
          <p:cNvCxnSpPr/>
          <p:nvPr/>
        </p:nvCxnSpPr>
        <p:spPr>
          <a:xfrm>
            <a:off x="7744968" y="2688336"/>
            <a:ext cx="210311" cy="0"/>
          </a:xfrm>
          <a:prstGeom prst="line">
            <a:avLst/>
          </a:prstGeom>
          <a:ln w="19050">
            <a:solidFill>
              <a:srgbClr val="B4C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4" name="Rounded Rectangle 17423"/>
          <p:cNvSpPr/>
          <p:nvPr/>
        </p:nvSpPr>
        <p:spPr>
          <a:xfrm>
            <a:off x="8001000" y="2423160"/>
            <a:ext cx="155448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rmAutofit/>
          </a:bodyPr>
          <a:lstStyle/>
          <a:p>
            <a:pPr algn="ctr"/>
            <a:r>
              <a:rPr sz="1280" b="0">
                <a:solidFill>
                  <a:srgbClr val="232D37"/>
                </a:solidFill>
                <a:latin typeface="Arial"/>
              </a:rPr>
              <a:t>Alerts + DB</a:t>
            </a:r>
          </a:p>
        </p:txBody>
      </p:sp>
      <p:cxnSp>
        <p:nvCxnSpPr>
          <p:cNvPr id="17425" name="Connector 17424"/>
          <p:cNvCxnSpPr/>
          <p:nvPr/>
        </p:nvCxnSpPr>
        <p:spPr>
          <a:xfrm>
            <a:off x="9573768" y="2688336"/>
            <a:ext cx="210312" cy="0"/>
          </a:xfrm>
          <a:prstGeom prst="line">
            <a:avLst/>
          </a:prstGeom>
          <a:ln w="19050">
            <a:solidFill>
              <a:srgbClr val="B4C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6" name="Rounded Rectangle 17425"/>
          <p:cNvSpPr/>
          <p:nvPr/>
        </p:nvSpPr>
        <p:spPr>
          <a:xfrm>
            <a:off x="9829800" y="2423160"/>
            <a:ext cx="1554480" cy="5303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rmAutofit/>
          </a:bodyPr>
          <a:lstStyle/>
          <a:p>
            <a:pPr algn="ctr"/>
            <a:r>
              <a:rPr sz="1280" b="0">
                <a:solidFill>
                  <a:srgbClr val="232D37"/>
                </a:solidFill>
                <a:latin typeface="Arial"/>
              </a:rPr>
              <a:t>Response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683820" y="3268278"/>
            <a:ext cx="5120640" cy="261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r>
              <a:rPr sz="1300" b="0" dirty="0">
                <a:solidFill>
                  <a:srgbClr val="232D37"/>
                </a:solidFill>
                <a:latin typeface="Arial"/>
              </a:rPr>
              <a:t>MODEL TRAINING DATA — 10,000 LABELED RECORDS</a:t>
            </a:r>
          </a:p>
          <a:p>
            <a:endParaRPr sz="1300" b="0" dirty="0">
              <a:solidFill>
                <a:srgbClr val="232D37"/>
              </a:solidFill>
              <a:latin typeface="Arial"/>
            </a:endParaRPr>
          </a:p>
          <a:p>
            <a:r>
              <a:rPr sz="1300" b="0" dirty="0">
                <a:solidFill>
                  <a:srgbClr val="232D37"/>
                </a:solidFill>
                <a:latin typeface="Arial"/>
              </a:rPr>
              <a:t>• Historical rainfall / precipitation</a:t>
            </a:r>
          </a:p>
          <a:p>
            <a:r>
              <a:rPr sz="1300" b="0" dirty="0">
                <a:solidFill>
                  <a:srgbClr val="232D37"/>
                </a:solidFill>
                <a:latin typeface="Arial"/>
              </a:rPr>
              <a:t>• NASA IMERG satellite rainfall products</a:t>
            </a:r>
          </a:p>
          <a:p>
            <a:r>
              <a:rPr sz="1300" b="0" dirty="0">
                <a:solidFill>
                  <a:srgbClr val="232D37"/>
                </a:solidFill>
                <a:latin typeface="Arial"/>
              </a:rPr>
              <a:t>• Temperature + humidity</a:t>
            </a:r>
          </a:p>
          <a:p>
            <a:r>
              <a:rPr sz="1300" b="0" dirty="0">
                <a:solidFill>
                  <a:srgbClr val="232D37"/>
                </a:solidFill>
                <a:latin typeface="Arial"/>
              </a:rPr>
              <a:t>• River discharge + water level</a:t>
            </a:r>
          </a:p>
          <a:p>
            <a:r>
              <a:rPr sz="1300" b="0" dirty="0">
                <a:solidFill>
                  <a:srgbClr val="232D37"/>
                </a:solidFill>
                <a:latin typeface="Arial"/>
              </a:rPr>
              <a:t>• Elevation</a:t>
            </a:r>
          </a:p>
          <a:p>
            <a:r>
              <a:rPr sz="1300" b="0" dirty="0">
                <a:solidFill>
                  <a:srgbClr val="232D37"/>
                </a:solidFill>
                <a:latin typeface="Arial"/>
              </a:rPr>
              <a:t>• Land cover + soil type</a:t>
            </a:r>
          </a:p>
          <a:p>
            <a:r>
              <a:rPr sz="1300" b="0" dirty="0">
                <a:solidFill>
                  <a:srgbClr val="232D37"/>
                </a:solidFill>
                <a:latin typeface="Arial"/>
              </a:rPr>
              <a:t>• Population density + infrastructure</a:t>
            </a:r>
          </a:p>
          <a:p>
            <a:r>
              <a:rPr sz="1300" b="0" dirty="0">
                <a:solidFill>
                  <a:srgbClr val="232D37"/>
                </a:solidFill>
                <a:latin typeface="Arial"/>
              </a:rPr>
              <a:t>• Historical flood events</a:t>
            </a:r>
          </a:p>
          <a:p>
            <a:r>
              <a:rPr sz="1300" b="0" dirty="0">
                <a:solidFill>
                  <a:srgbClr val="232D37"/>
                </a:solidFill>
                <a:latin typeface="Arial"/>
              </a:rPr>
              <a:t>• Target: Flood Occurred (0 / 1)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6309360" y="3268278"/>
            <a:ext cx="4937760" cy="2425509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 fontScale="92500" lnSpcReduction="10000"/>
          </a:bodyPr>
          <a:lstStyle/>
          <a:p>
            <a:r>
              <a:rPr sz="1500" b="0" dirty="0">
                <a:solidFill>
                  <a:srgbClr val="232D37"/>
                </a:solidFill>
                <a:latin typeface="+mj-lt"/>
              </a:rPr>
              <a:t>HOW OUR MODEL PREDICTS FLOOD RISK</a:t>
            </a:r>
          </a:p>
          <a:p>
            <a:endParaRPr sz="1220" b="0" dirty="0">
              <a:solidFill>
                <a:srgbClr val="232D37"/>
              </a:solidFill>
              <a:latin typeface="Arial"/>
            </a:endParaRPr>
          </a:p>
          <a:p>
            <a:r>
              <a:rPr sz="1300" b="0" dirty="0">
                <a:solidFill>
                  <a:srgbClr val="232D37"/>
                </a:solidFill>
                <a:latin typeface="Aptos" panose="020B0004020202020204" pitchFamily="34" charset="0"/>
              </a:rPr>
              <a:t>1. Historical rainfall and flood-event data provide the training context.</a:t>
            </a:r>
          </a:p>
          <a:p>
            <a:r>
              <a:rPr sz="1300" b="0" dirty="0">
                <a:solidFill>
                  <a:srgbClr val="232D37"/>
                </a:solidFill>
                <a:latin typeface="Aptos" panose="020B0004020202020204" pitchFamily="34" charset="0"/>
              </a:rPr>
              <a:t>2. Rainfall, weather, terrain and human-impact factors become model features.</a:t>
            </a:r>
          </a:p>
          <a:p>
            <a:r>
              <a:rPr sz="1300" b="0" dirty="0">
                <a:solidFill>
                  <a:srgbClr val="232D37"/>
                </a:solidFill>
                <a:latin typeface="Aptos" panose="020B0004020202020204" pitchFamily="34" charset="0"/>
              </a:rPr>
              <a:t>3. A Random Forest model is trained on 10,000 labeled records.</a:t>
            </a:r>
          </a:p>
          <a:p>
            <a:r>
              <a:rPr sz="1300" b="0" dirty="0">
                <a:solidFill>
                  <a:srgbClr val="232D37"/>
                </a:solidFill>
                <a:latin typeface="Aptos" panose="020B0004020202020204" pitchFamily="34" charset="0"/>
              </a:rPr>
              <a:t>4. For a new location, the model estimates flood probability.</a:t>
            </a:r>
          </a:p>
          <a:p>
            <a:r>
              <a:rPr sz="1300" b="0" dirty="0">
                <a:solidFill>
                  <a:srgbClr val="232D37"/>
                </a:solidFill>
                <a:latin typeface="Aptos" panose="020B0004020202020204" pitchFamily="34" charset="0"/>
              </a:rPr>
              <a:t>5. Probability is converted into LOW / MEDIUM / HIGH / CRITICAL risk.</a:t>
            </a:r>
          </a:p>
          <a:p>
            <a:r>
              <a:rPr sz="1300" b="0" dirty="0">
                <a:solidFill>
                  <a:srgbClr val="232D37"/>
                </a:solidFill>
                <a:latin typeface="Aptos" panose="020B0004020202020204" pitchFamily="34" charset="0"/>
              </a:rPr>
              <a:t>6. Live weather updates can trigger automatic HIGH / CRITICAL alerts.</a:t>
            </a:r>
          </a:p>
          <a:p>
            <a:endParaRPr sz="1300" b="0" dirty="0">
              <a:solidFill>
                <a:srgbClr val="232D37"/>
              </a:solidFill>
              <a:latin typeface="Aptos" panose="020B0004020202020204" pitchFamily="34" charset="0"/>
            </a:endParaRPr>
          </a:p>
          <a:p>
            <a:r>
              <a:rPr sz="1700" b="0" dirty="0">
                <a:solidFill>
                  <a:srgbClr val="232D37"/>
                </a:solidFill>
                <a:latin typeface="+mj-lt"/>
              </a:rPr>
              <a:t>Pipeline:</a:t>
            </a:r>
            <a:endParaRPr lang="en-US" sz="1700" b="0" dirty="0">
              <a:solidFill>
                <a:srgbClr val="232D37"/>
              </a:solidFill>
              <a:latin typeface="+mj-lt"/>
            </a:endParaRPr>
          </a:p>
          <a:p>
            <a:r>
              <a:rPr sz="1500" b="0" dirty="0">
                <a:solidFill>
                  <a:srgbClr val="232D37"/>
                </a:solidFill>
                <a:latin typeface="Aptos Narrow" panose="020B0004020202020204" pitchFamily="34" charset="0"/>
              </a:rPr>
              <a:t>Historical + Live Data → Features → Random Forest → Flood Probability → Risk → Alert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74320" y="236305"/>
            <a:ext cx="10972800" cy="1143000"/>
          </a:xfrm>
        </p:spPr>
        <p:txBody>
          <a:bodyPr wrap="square" lIns="54864" tIns="54864" rIns="54864" bIns="54864" anchor="ctr">
            <a:normAutofit/>
          </a:bodyPr>
          <a:lstStyle/>
          <a:p>
            <a:pPr algn="ctr" eaLnBrk="1" hangingPunct="1"/>
            <a:r>
              <a:rPr sz="2400" b="1">
                <a:solidFill>
                  <a:srgbClr val="232D37"/>
                </a:solidFill>
                <a:latin typeface="Arial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40080" y="1280160"/>
            <a:ext cx="109728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 lIns="54864" tIns="54864" rIns="54864" bIns="54864" anchor="t">
            <a:normAutofit/>
          </a:bodyPr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900" b="0">
                <a:latin typeface="Arial"/>
              </a:rPr>
              <a:t>4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 wrap="square" lIns="54864" tIns="54864" rIns="54864" bIns="54864" anchor="ctr">
            <a:normAutofit/>
          </a:bodyPr>
          <a:lstStyle/>
          <a:p>
            <a:r>
              <a:rPr sz="900" b="0">
                <a:solidFill>
                  <a:srgbClr val="788791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54864" tIns="54864" rIns="54864" bIns="54864" rtlCol="0" anchor="ctr">
            <a:normAutofit/>
          </a:bodyPr>
          <a:lstStyle/>
          <a:p>
            <a:r>
              <a:rPr sz="900" b="1">
                <a:solidFill>
                  <a:srgbClr val="232D37"/>
                </a:solidFill>
                <a:latin typeface="Arial"/>
              </a:rPr>
              <a:t>THE AI SYNDICATE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731520" y="1417320"/>
            <a:ext cx="3337560" cy="502920"/>
          </a:xfrm>
          <a:prstGeom prst="roundRect">
            <a:avLst/>
          </a:prstGeom>
          <a:solidFill>
            <a:srgbClr val="143A5A"/>
          </a:solidFill>
          <a:ln w="16510">
            <a:solidFill>
              <a:srgbClr val="14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rm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rial"/>
              </a:rPr>
              <a:t>WHY IT IS FEASIBLE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822960" y="1965959"/>
            <a:ext cx="3154680" cy="1729341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2D3741"/>
                </a:solidFill>
                <a:latin typeface="Aptos"/>
              </a:defRPr>
            </a:pPr>
            <a:r>
              <a:rPr sz="1280" b="0" dirty="0">
                <a:solidFill>
                  <a:srgbClr val="232D37"/>
                </a:solidFill>
                <a:latin typeface="Arial"/>
              </a:rPr>
              <a:t>• Software-first and lightweight architecture</a:t>
            </a:r>
            <a:br>
              <a:rPr dirty="0"/>
            </a:br>
            <a:r>
              <a:rPr sz="1280" b="0" dirty="0">
                <a:solidFill>
                  <a:srgbClr val="232D37"/>
                </a:solidFill>
                <a:latin typeface="Arial"/>
              </a:rPr>
              <a:t>• Python + </a:t>
            </a:r>
            <a:r>
              <a:rPr sz="1280" b="0" dirty="0" err="1">
                <a:solidFill>
                  <a:srgbClr val="232D37"/>
                </a:solidFill>
                <a:latin typeface="Arial"/>
              </a:rPr>
              <a:t>FastAPI</a:t>
            </a:r>
            <a:r>
              <a:rPr sz="1280" b="0" dirty="0">
                <a:solidFill>
                  <a:srgbClr val="232D37"/>
                </a:solidFill>
                <a:latin typeface="Arial"/>
              </a:rPr>
              <a:t>+ scikit-learn</a:t>
            </a:r>
            <a:br>
              <a:rPr dirty="0"/>
            </a:br>
            <a:r>
              <a:rPr sz="1280" b="0" dirty="0">
                <a:solidFill>
                  <a:srgbClr val="232D37"/>
                </a:solidFill>
                <a:latin typeface="Arial"/>
              </a:rPr>
              <a:t>• NASA IMERG + live weather data inputs</a:t>
            </a:r>
            <a:br>
              <a:rPr dirty="0"/>
            </a:br>
            <a:r>
              <a:rPr sz="1280" b="0" dirty="0">
                <a:solidFill>
                  <a:srgbClr val="232D37"/>
                </a:solidFill>
                <a:latin typeface="Arial"/>
              </a:rPr>
              <a:t>• GIS supports district/location visualization</a:t>
            </a:r>
            <a:br>
              <a:rPr dirty="0"/>
            </a:br>
            <a:r>
              <a:rPr sz="1280" b="0" dirty="0">
                <a:solidFill>
                  <a:srgbClr val="232D37"/>
                </a:solidFill>
                <a:latin typeface="Arial"/>
              </a:rPr>
              <a:t>• Core ML, alert, SOS and dashboard modules are prototyped</a:t>
            </a:r>
            <a:endParaRPr lang="en-US" dirty="0"/>
          </a:p>
        </p:txBody>
      </p:sp>
      <p:sp>
        <p:nvSpPr>
          <p:cNvPr id="17413" name="Rounded Rectangle 17412"/>
          <p:cNvSpPr/>
          <p:nvPr/>
        </p:nvSpPr>
        <p:spPr>
          <a:xfrm>
            <a:off x="4297680" y="1417320"/>
            <a:ext cx="3337560" cy="502920"/>
          </a:xfrm>
          <a:prstGeom prst="roundRect">
            <a:avLst/>
          </a:prstGeom>
          <a:solidFill>
            <a:srgbClr val="C84141"/>
          </a:solidFill>
          <a:ln w="16510">
            <a:solidFill>
              <a:srgbClr val="C8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rm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rial"/>
              </a:rPr>
              <a:t>CHALLENGES / RISKS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389120" y="1965959"/>
            <a:ext cx="3154680" cy="1837943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 lnSpcReduction="10000"/>
          </a:bodyPr>
          <a:lstStyle/>
          <a:p>
            <a:pPr>
              <a:spcAft>
                <a:spcPts val="400"/>
              </a:spcAft>
              <a:defRPr sz="1050">
                <a:solidFill>
                  <a:srgbClr val="2D3741"/>
                </a:solidFill>
                <a:latin typeface="Aptos"/>
              </a:defRPr>
            </a:pPr>
            <a:r>
              <a:rPr sz="1280" b="0" dirty="0">
                <a:solidFill>
                  <a:srgbClr val="232D37"/>
                </a:solidFill>
                <a:latin typeface="Arial"/>
              </a:rPr>
              <a:t>• Flood events are rare and data can be imbalanced</a:t>
            </a:r>
            <a:br>
              <a:rPr dirty="0"/>
            </a:br>
            <a:r>
              <a:rPr sz="1280" b="0" dirty="0">
                <a:solidFill>
                  <a:srgbClr val="232D37"/>
                </a:solidFill>
                <a:latin typeface="Arial"/>
              </a:rPr>
              <a:t>• Live weather/GPS may contain uncertainty</a:t>
            </a:r>
            <a:br>
              <a:rPr dirty="0"/>
            </a:br>
            <a:r>
              <a:rPr sz="1280" b="0" dirty="0">
                <a:solidFill>
                  <a:srgbClr val="232D37"/>
                </a:solidFill>
                <a:latin typeface="Arial"/>
              </a:rPr>
              <a:t>• Network degradation during emergencies</a:t>
            </a:r>
            <a:br>
              <a:rPr dirty="0"/>
            </a:br>
            <a:r>
              <a:rPr sz="1280" b="0" dirty="0">
                <a:solidFill>
                  <a:srgbClr val="232D37"/>
                </a:solidFill>
                <a:latin typeface="Arial"/>
              </a:rPr>
              <a:t>• Sudden spikes in concurrent incidents</a:t>
            </a:r>
            <a:br>
              <a:rPr dirty="0"/>
            </a:br>
            <a:r>
              <a:rPr sz="1280" b="0" dirty="0">
                <a:solidFill>
                  <a:srgbClr val="232D37"/>
                </a:solidFill>
                <a:latin typeface="Arial"/>
              </a:rPr>
              <a:t>• Emergency data needs controlled access</a:t>
            </a:r>
            <a:endParaRPr lang="en-US" dirty="0"/>
          </a:p>
        </p:txBody>
      </p:sp>
      <p:sp>
        <p:nvSpPr>
          <p:cNvPr id="17415" name="Rounded Rectangle 17414"/>
          <p:cNvSpPr/>
          <p:nvPr/>
        </p:nvSpPr>
        <p:spPr>
          <a:xfrm>
            <a:off x="7863840" y="1417320"/>
            <a:ext cx="3337560" cy="502920"/>
          </a:xfrm>
          <a:prstGeom prst="roundRect">
            <a:avLst/>
          </a:prstGeom>
          <a:solidFill>
            <a:srgbClr val="2D8B58"/>
          </a:solidFill>
          <a:ln w="16510">
            <a:solidFill>
              <a:srgbClr val="2D8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rm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rial"/>
              </a:rPr>
              <a:t>HOW WE HANDLE THEM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7955279" y="1965959"/>
            <a:ext cx="3154680" cy="1653613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 lnSpcReduction="10000"/>
          </a:bodyPr>
          <a:lstStyle/>
          <a:p>
            <a:pPr>
              <a:spcAft>
                <a:spcPts val="400"/>
              </a:spcAft>
              <a:defRPr sz="1050">
                <a:solidFill>
                  <a:srgbClr val="2D3741"/>
                </a:solidFill>
                <a:latin typeface="Aptos"/>
              </a:defRPr>
            </a:pPr>
            <a:r>
              <a:rPr sz="1280" b="0" dirty="0">
                <a:solidFill>
                  <a:srgbClr val="232D37"/>
                </a:solidFill>
                <a:latin typeface="Arial"/>
              </a:rPr>
              <a:t>• Chronological validation + risk thresholds</a:t>
            </a:r>
            <a:br>
              <a:rPr dirty="0"/>
            </a:br>
            <a:r>
              <a:rPr sz="1280" b="0" dirty="0">
                <a:solidFill>
                  <a:srgbClr val="232D37"/>
                </a:solidFill>
                <a:latin typeface="Arial"/>
              </a:rPr>
              <a:t>• Combine ML output with live weather signals</a:t>
            </a:r>
            <a:br>
              <a:rPr dirty="0"/>
            </a:br>
            <a:r>
              <a:rPr sz="1280" b="0" dirty="0">
                <a:solidFill>
                  <a:srgbClr val="232D37"/>
                </a:solidFill>
                <a:latin typeface="Arial"/>
              </a:rPr>
              <a:t>• Location validation + GIS context</a:t>
            </a:r>
            <a:br>
              <a:rPr dirty="0"/>
            </a:br>
            <a:r>
              <a:rPr sz="1280" b="0" dirty="0">
                <a:solidFill>
                  <a:srgbClr val="232D37"/>
                </a:solidFill>
                <a:latin typeface="Arial"/>
              </a:rPr>
              <a:t>• Priority queues + dashboard filters</a:t>
            </a:r>
            <a:br>
              <a:rPr dirty="0"/>
            </a:br>
            <a:r>
              <a:rPr sz="1280" b="0" dirty="0">
                <a:solidFill>
                  <a:srgbClr val="232D37"/>
                </a:solidFill>
                <a:latin typeface="Arial"/>
              </a:rPr>
              <a:t>• Authentication + role-based access</a:t>
            </a:r>
            <a:br>
              <a:rPr dirty="0"/>
            </a:br>
            <a:r>
              <a:rPr sz="1280" b="0" dirty="0">
                <a:solidFill>
                  <a:srgbClr val="232D37"/>
                </a:solidFill>
                <a:latin typeface="Arial"/>
              </a:rPr>
              <a:t>• Offline/queued sync as a future upgrade</a:t>
            </a:r>
            <a:endParaRPr lang="en-US" dirty="0"/>
          </a:p>
        </p:txBody>
      </p:sp>
      <p:sp>
        <p:nvSpPr>
          <p:cNvPr id="17417" name="Rounded Rectangle 17416"/>
          <p:cNvSpPr/>
          <p:nvPr/>
        </p:nvSpPr>
        <p:spPr>
          <a:xfrm>
            <a:off x="914400" y="4160520"/>
            <a:ext cx="2240280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rmAutofit/>
          </a:bodyPr>
          <a:lstStyle/>
          <a:p>
            <a:pPr algn="ctr"/>
            <a:r>
              <a:rPr sz="1320" b="0">
                <a:solidFill>
                  <a:srgbClr val="232D37"/>
                </a:solidFill>
                <a:latin typeface="Arial"/>
              </a:rPr>
              <a:t>Prototype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337560" y="4160520"/>
            <a:ext cx="2240280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rmAutofit/>
          </a:bodyPr>
          <a:lstStyle/>
          <a:p>
            <a:pPr algn="ctr"/>
            <a:r>
              <a:rPr sz="1320" b="0">
                <a:solidFill>
                  <a:srgbClr val="232D37"/>
                </a:solidFill>
                <a:latin typeface="Arial"/>
              </a:rPr>
              <a:t>District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5760720" y="4160520"/>
            <a:ext cx="2240280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rmAutofit/>
          </a:bodyPr>
          <a:lstStyle/>
          <a:p>
            <a:pPr algn="ctr"/>
            <a:r>
              <a:rPr sz="1320" b="0">
                <a:solidFill>
                  <a:srgbClr val="232D37"/>
                </a:solidFill>
                <a:latin typeface="Arial"/>
              </a:rPr>
              <a:t>State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8183879" y="4160520"/>
            <a:ext cx="2240280" cy="5669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rmAutofit/>
          </a:bodyPr>
          <a:lstStyle/>
          <a:p>
            <a:pPr algn="ctr"/>
            <a:r>
              <a:rPr sz="1320" b="0">
                <a:solidFill>
                  <a:srgbClr val="232D37"/>
                </a:solidFill>
                <a:latin typeface="Arial"/>
              </a:rPr>
              <a:t>National</a:t>
            </a:r>
          </a:p>
        </p:txBody>
      </p:sp>
      <p:cxnSp>
        <p:nvCxnSpPr>
          <p:cNvPr id="17421" name="Connector 17420"/>
          <p:cNvCxnSpPr/>
          <p:nvPr/>
        </p:nvCxnSpPr>
        <p:spPr>
          <a:xfrm>
            <a:off x="3182112" y="4443984"/>
            <a:ext cx="128016" cy="0"/>
          </a:xfrm>
          <a:prstGeom prst="line">
            <a:avLst/>
          </a:prstGeom>
          <a:ln w="25400">
            <a:solidFill>
              <a:srgbClr val="B4C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2" name="Connector 17421"/>
          <p:cNvCxnSpPr/>
          <p:nvPr/>
        </p:nvCxnSpPr>
        <p:spPr>
          <a:xfrm>
            <a:off x="5605272" y="4443984"/>
            <a:ext cx="128016" cy="0"/>
          </a:xfrm>
          <a:prstGeom prst="line">
            <a:avLst/>
          </a:prstGeom>
          <a:ln w="25400">
            <a:solidFill>
              <a:srgbClr val="B4C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3" name="Connector 17422"/>
          <p:cNvCxnSpPr/>
          <p:nvPr/>
        </p:nvCxnSpPr>
        <p:spPr>
          <a:xfrm>
            <a:off x="8028431" y="4443984"/>
            <a:ext cx="128017" cy="0"/>
          </a:xfrm>
          <a:prstGeom prst="line">
            <a:avLst/>
          </a:prstGeom>
          <a:ln w="25400">
            <a:solidFill>
              <a:srgbClr val="B4C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4" name="Rounded Rectangle 17423"/>
          <p:cNvSpPr/>
          <p:nvPr/>
        </p:nvSpPr>
        <p:spPr>
          <a:xfrm>
            <a:off x="1764792" y="5074920"/>
            <a:ext cx="7680960" cy="5943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rmAutofit/>
          </a:bodyPr>
          <a:lstStyle/>
          <a:p>
            <a:pPr algn="ctr"/>
            <a:r>
              <a:rPr sz="1280" b="0">
                <a:solidFill>
                  <a:srgbClr val="232D37"/>
                </a:solidFill>
                <a:latin typeface="Arial"/>
              </a:rPr>
              <a:t>SCALABILITY: Prototype → District → State → National flood early-warning coverage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02920" y="174095"/>
            <a:ext cx="10972800" cy="1143000"/>
          </a:xfrm>
        </p:spPr>
        <p:txBody>
          <a:bodyPr wrap="square" lIns="54864" tIns="54864" rIns="54864" bIns="54864" anchor="ctr">
            <a:normAutofit/>
          </a:bodyPr>
          <a:lstStyle/>
          <a:p>
            <a:pPr algn="ctr" eaLnBrk="1" hangingPunct="1"/>
            <a:r>
              <a:rPr sz="2400" b="1" dirty="0">
                <a:solidFill>
                  <a:srgbClr val="232D37"/>
                </a:solidFill>
                <a:latin typeface="Arial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94360" y="1280160"/>
            <a:ext cx="109728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 lIns="54864" tIns="54864" rIns="54864" bIns="54864" anchor="t">
            <a:normAutofit/>
          </a:bodyPr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900" b="0">
                <a:latin typeface="Arial"/>
              </a:rPr>
              <a:t>5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 wrap="square" lIns="54864" tIns="54864" rIns="54864" bIns="54864" anchor="ctr">
            <a:normAutofit/>
          </a:bodyPr>
          <a:lstStyle/>
          <a:p>
            <a:r>
              <a:rPr sz="900" b="0">
                <a:solidFill>
                  <a:srgbClr val="788791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54864" tIns="54864" rIns="54864" bIns="54864" rtlCol="0" anchor="ctr">
            <a:normAutofit/>
          </a:bodyPr>
          <a:lstStyle/>
          <a:p>
            <a:r>
              <a:rPr sz="900" b="1">
                <a:solidFill>
                  <a:srgbClr val="232D37"/>
                </a:solidFill>
                <a:latin typeface="Arial"/>
              </a:rPr>
              <a:t>THE AI SYNDICATE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708661" y="1417320"/>
            <a:ext cx="2743200" cy="594360"/>
          </a:xfrm>
          <a:prstGeom prst="roundRect">
            <a:avLst/>
          </a:prstGeom>
          <a:solidFill>
            <a:srgbClr val="143A5A"/>
          </a:solidFill>
          <a:ln w="16510">
            <a:solidFill>
              <a:srgbClr val="14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t">
            <a:normAutofit/>
          </a:bodyPr>
          <a:lstStyle/>
          <a:p>
            <a:pPr algn="ctr"/>
            <a:r>
              <a:rPr lang="en-US" sz="1500" b="1" dirty="0">
                <a:solidFill>
                  <a:schemeClr val="bg1"/>
                </a:solidFill>
                <a:latin typeface="Arial"/>
              </a:rPr>
              <a:t>TARGET USER</a:t>
            </a:r>
            <a:endParaRPr sz="1500" b="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17412" name="TextBox 17411"/>
          <p:cNvSpPr txBox="1"/>
          <p:nvPr/>
        </p:nvSpPr>
        <p:spPr>
          <a:xfrm>
            <a:off x="777240" y="2011680"/>
            <a:ext cx="2560320" cy="12023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>
              <a:spcAft>
                <a:spcPts val="400"/>
              </a:spcAft>
              <a:defRPr sz="1080">
                <a:solidFill>
                  <a:srgbClr val="2D3741"/>
                </a:solidFill>
                <a:latin typeface="Aptos"/>
              </a:defRPr>
            </a:pPr>
            <a:r>
              <a:rPr sz="1280" b="0" dirty="0">
                <a:solidFill>
                  <a:srgbClr val="232D37"/>
                </a:solidFill>
                <a:latin typeface="Arial"/>
              </a:rPr>
              <a:t>• </a:t>
            </a:r>
            <a:r>
              <a:rPr lang="en-IN" sz="1280" b="0" dirty="0">
                <a:solidFill>
                  <a:srgbClr val="232D37"/>
                </a:solidFill>
                <a:latin typeface="Arial"/>
              </a:rPr>
              <a:t> </a:t>
            </a:r>
            <a:r>
              <a:rPr sz="1280" b="0" dirty="0">
                <a:solidFill>
                  <a:srgbClr val="232D37"/>
                </a:solidFill>
                <a:latin typeface="Arial"/>
              </a:rPr>
              <a:t>citizens</a:t>
            </a:r>
            <a:br>
              <a:rPr dirty="0"/>
            </a:br>
            <a:r>
              <a:rPr sz="1280" b="0" dirty="0">
                <a:solidFill>
                  <a:srgbClr val="232D37"/>
                </a:solidFill>
                <a:latin typeface="Arial"/>
              </a:rPr>
              <a:t>• Volunteers</a:t>
            </a:r>
            <a:br>
              <a:rPr dirty="0"/>
            </a:br>
            <a:r>
              <a:rPr sz="1280" b="0" dirty="0">
                <a:solidFill>
                  <a:srgbClr val="232D37"/>
                </a:solidFill>
                <a:latin typeface="Arial"/>
              </a:rPr>
              <a:t>• Rescue teams</a:t>
            </a:r>
            <a:br>
              <a:rPr dirty="0"/>
            </a:br>
            <a:r>
              <a:rPr sz="1280" b="0" dirty="0">
                <a:solidFill>
                  <a:srgbClr val="232D37"/>
                </a:solidFill>
                <a:latin typeface="Arial"/>
              </a:rPr>
              <a:t>• Disaster authorities</a:t>
            </a:r>
            <a:endParaRPr lang="en-US" dirty="0"/>
          </a:p>
        </p:txBody>
      </p:sp>
      <p:sp>
        <p:nvSpPr>
          <p:cNvPr id="17413" name="Rounded Rectangle 17412"/>
          <p:cNvSpPr/>
          <p:nvPr/>
        </p:nvSpPr>
        <p:spPr>
          <a:xfrm>
            <a:off x="3657600" y="1417320"/>
            <a:ext cx="3429000" cy="530352"/>
          </a:xfrm>
          <a:prstGeom prst="roundRect">
            <a:avLst/>
          </a:prstGeom>
          <a:solidFill>
            <a:srgbClr val="183A5A"/>
          </a:solidFill>
          <a:ln w="13970"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rmAutofit/>
          </a:bodyPr>
          <a:lstStyle/>
          <a:p>
            <a:pPr algn="ctr"/>
            <a:r>
              <a:rPr sz="1380" b="1">
                <a:solidFill>
                  <a:srgbClr val="FFFFFF"/>
                </a:solidFill>
                <a:latin typeface="Arial"/>
              </a:rPr>
              <a:t>BEFORE: REACTIVE &amp; SCATTERED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3749039" y="2011680"/>
            <a:ext cx="3200400" cy="119776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2D3741"/>
                </a:solidFill>
                <a:latin typeface="Aptos"/>
              </a:defRPr>
            </a:pPr>
            <a:r>
              <a:rPr sz="1280" b="0">
                <a:solidFill>
                  <a:srgbClr val="232D37"/>
                </a:solidFill>
                <a:latin typeface="Arial"/>
              </a:rPr>
              <a:t>• Separate information channels</a:t>
            </a:r>
            <a:br/>
            <a:r>
              <a:rPr sz="1280" b="0">
                <a:solidFill>
                  <a:srgbClr val="232D37"/>
                </a:solidFill>
                <a:latin typeface="Arial"/>
              </a:rPr>
              <a:t>• Manual monitoring and reporting</a:t>
            </a:r>
            <a:br/>
            <a:r>
              <a:rPr sz="1280" b="0">
                <a:solidFill>
                  <a:srgbClr val="232D37"/>
                </a:solidFill>
                <a:latin typeface="Arial"/>
              </a:rPr>
              <a:t>• Location/context may be incomplete</a:t>
            </a:r>
            <a:br/>
            <a:r>
              <a:rPr sz="1280" b="0">
                <a:solidFill>
                  <a:srgbClr val="232D37"/>
                </a:solidFill>
                <a:latin typeface="Arial"/>
              </a:rPr>
              <a:t>• Difficult to prioritize many incidents</a:t>
            </a:r>
            <a:br/>
            <a:r>
              <a:rPr sz="1280" b="0">
                <a:solidFill>
                  <a:srgbClr val="232D37"/>
                </a:solidFill>
                <a:latin typeface="Arial"/>
              </a:rPr>
              <a:t>• Prediction disconnected from response</a:t>
            </a:r>
            <a:endParaRPr lang="en-US" dirty="0"/>
          </a:p>
        </p:txBody>
      </p:sp>
      <p:sp>
        <p:nvSpPr>
          <p:cNvPr id="17415" name="Rounded Rectangle 17414"/>
          <p:cNvSpPr/>
          <p:nvPr/>
        </p:nvSpPr>
        <p:spPr>
          <a:xfrm>
            <a:off x="7315200" y="1417320"/>
            <a:ext cx="3429000" cy="530352"/>
          </a:xfrm>
          <a:prstGeom prst="roundRect">
            <a:avLst/>
          </a:prstGeom>
          <a:solidFill>
            <a:srgbClr val="183A5A"/>
          </a:solidFill>
          <a:ln w="13970">
            <a:solidFill>
              <a:srgbClr val="18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rmAutofit fontScale="92500"/>
          </a:bodyPr>
          <a:lstStyle/>
          <a:p>
            <a:pPr algn="ctr"/>
            <a:r>
              <a:rPr sz="1380" b="1">
                <a:solidFill>
                  <a:srgbClr val="FFFFFF"/>
                </a:solidFill>
                <a:latin typeface="Arial"/>
              </a:rPr>
              <a:t>AFTER: PREDICTIVE &amp; COORDINATED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7406640" y="2011680"/>
            <a:ext cx="3200400" cy="1220847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2D3741"/>
                </a:solidFill>
                <a:latin typeface="Aptos"/>
              </a:defRPr>
            </a:pPr>
            <a:r>
              <a:rPr sz="1280" b="0">
                <a:solidFill>
                  <a:srgbClr val="232D37"/>
                </a:solidFill>
                <a:latin typeface="Arial"/>
              </a:rPr>
              <a:t>• Continuous flood-risk monitoring</a:t>
            </a:r>
            <a:br/>
            <a:r>
              <a:rPr sz="1280" b="0">
                <a:solidFill>
                  <a:srgbClr val="232D37"/>
                </a:solidFill>
                <a:latin typeface="Arial"/>
              </a:rPr>
              <a:t>• GIS-aware district and incident records</a:t>
            </a:r>
            <a:br/>
            <a:r>
              <a:rPr sz="1280" b="0">
                <a:solidFill>
                  <a:srgbClr val="232D37"/>
                </a:solidFill>
                <a:latin typeface="Arial"/>
              </a:rPr>
              <a:t>• Automatic risk-based alerts</a:t>
            </a:r>
            <a:br/>
            <a:r>
              <a:rPr sz="1280" b="0">
                <a:solidFill>
                  <a:srgbClr val="232D37"/>
                </a:solidFill>
                <a:latin typeface="Arial"/>
              </a:rPr>
              <a:t>• Shared authority/rescue information</a:t>
            </a:r>
            <a:br/>
            <a:r>
              <a:rPr sz="1280" b="0">
                <a:solidFill>
                  <a:srgbClr val="232D37"/>
                </a:solidFill>
                <a:latin typeface="Arial"/>
              </a:rPr>
              <a:t>• SOS and response workflows</a:t>
            </a:r>
            <a:endParaRPr lang="en-US" sz="1200" dirty="0"/>
          </a:p>
        </p:txBody>
      </p:sp>
      <p:sp>
        <p:nvSpPr>
          <p:cNvPr id="17417" name="Rounded Rectangle 17416"/>
          <p:cNvSpPr/>
          <p:nvPr/>
        </p:nvSpPr>
        <p:spPr>
          <a:xfrm>
            <a:off x="685800" y="4069080"/>
            <a:ext cx="2514600" cy="457200"/>
          </a:xfrm>
          <a:prstGeom prst="roundRect">
            <a:avLst/>
          </a:prstGeom>
          <a:solidFill>
            <a:srgbClr val="186EB4"/>
          </a:solidFill>
          <a:ln w="16510">
            <a:solidFill>
              <a:srgbClr val="18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EARLY WARNING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685800" y="4590288"/>
            <a:ext cx="25146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rmAutofit/>
          </a:bodyPr>
          <a:lstStyle/>
          <a:p>
            <a:pPr algn="ctr"/>
            <a:r>
              <a:rPr sz="1260" b="0">
                <a:solidFill>
                  <a:srgbClr val="232D37"/>
                </a:solidFill>
                <a:latin typeface="Arial"/>
              </a:rPr>
              <a:t>Earlier identification of rising flood risk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3474720" y="4069080"/>
            <a:ext cx="2514600" cy="457200"/>
          </a:xfrm>
          <a:prstGeom prst="roundRect">
            <a:avLst/>
          </a:prstGeom>
          <a:solidFill>
            <a:srgbClr val="E0822A"/>
          </a:solidFill>
          <a:ln w="16510">
            <a:solidFill>
              <a:srgbClr val="E08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OPERATIONAL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474720" y="4590288"/>
            <a:ext cx="25146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rmAutofit/>
          </a:bodyPr>
          <a:lstStyle/>
          <a:p>
            <a:pPr algn="ctr"/>
            <a:r>
              <a:rPr sz="1260" b="0">
                <a:solidFill>
                  <a:srgbClr val="232D37"/>
                </a:solidFill>
                <a:latin typeface="Arial"/>
              </a:rPr>
              <a:t>Faster prioritization and coordination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263640" y="4069080"/>
            <a:ext cx="2514600" cy="457200"/>
          </a:xfrm>
          <a:prstGeom prst="roundRect">
            <a:avLst/>
          </a:prstGeom>
          <a:solidFill>
            <a:srgbClr val="2D8B58"/>
          </a:solidFill>
          <a:ln w="16510">
            <a:solidFill>
              <a:srgbClr val="2D8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RESOURCE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6263640" y="4590288"/>
            <a:ext cx="25146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rmAutofit/>
          </a:bodyPr>
          <a:lstStyle/>
          <a:p>
            <a:pPr algn="ctr"/>
            <a:r>
              <a:rPr sz="1260" b="0">
                <a:solidFill>
                  <a:srgbClr val="232D37"/>
                </a:solidFill>
                <a:latin typeface="Arial"/>
              </a:rPr>
              <a:t>Better allocation of rescue capacity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9052559" y="4069080"/>
            <a:ext cx="2514600" cy="457200"/>
          </a:xfrm>
          <a:prstGeom prst="roundRect">
            <a:avLst/>
          </a:prstGeom>
          <a:solidFill>
            <a:srgbClr val="694EA0"/>
          </a:solidFill>
          <a:ln w="16510">
            <a:solidFill>
              <a:srgbClr val="694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SCALABLE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9052559" y="4590288"/>
            <a:ext cx="2514600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rmAutofit/>
          </a:bodyPr>
          <a:lstStyle/>
          <a:p>
            <a:pPr algn="ctr"/>
            <a:r>
              <a:rPr sz="1260" b="0">
                <a:solidFill>
                  <a:srgbClr val="232D37"/>
                </a:solidFill>
                <a:latin typeface="Arial"/>
              </a:rPr>
              <a:t>District → state → national deployment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1874519" y="5486400"/>
            <a:ext cx="8138160" cy="457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8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rmAutofit/>
          </a:bodyPr>
          <a:lstStyle/>
          <a:p>
            <a:pPr algn="ctr"/>
            <a:r>
              <a:rPr sz="1250" b="0">
                <a:solidFill>
                  <a:srgbClr val="232D37"/>
                </a:solidFill>
                <a:latin typeface="Arial"/>
              </a:rPr>
              <a:t>CORE BENEFIT: Predict earlier → alert faster → coordinate better → respond smarter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57200" y="84413"/>
            <a:ext cx="10972800" cy="1143000"/>
          </a:xfrm>
        </p:spPr>
        <p:txBody>
          <a:bodyPr wrap="square" lIns="54864" tIns="54864" rIns="54864" bIns="54864" anchor="ctr">
            <a:normAutofit/>
          </a:bodyPr>
          <a:lstStyle/>
          <a:p>
            <a:pPr algn="ctr" eaLnBrk="1" hangingPunct="1"/>
            <a:r>
              <a:rPr sz="2400" b="1" dirty="0">
                <a:solidFill>
                  <a:srgbClr val="232D37"/>
                </a:solidFill>
                <a:latin typeface="Arial"/>
              </a:rP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94360" y="1234440"/>
            <a:ext cx="10972800" cy="5120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wrap="square" lIns="54864" tIns="54864" rIns="54864" bIns="54864" anchor="t">
            <a:normAutofit/>
          </a:bodyPr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sz="900" b="0">
                <a:latin typeface="Arial"/>
              </a:rPr>
              <a:t>6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 wrap="square" lIns="54864" tIns="54864" rIns="54864" bIns="54864" anchor="ctr">
            <a:normAutofit/>
          </a:bodyPr>
          <a:lstStyle/>
          <a:p>
            <a:r>
              <a:rPr sz="900" b="0">
                <a:solidFill>
                  <a:srgbClr val="788791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54864" tIns="54864" rIns="54864" bIns="54864" rtlCol="0" anchor="ctr">
            <a:normAutofit/>
          </a:bodyPr>
          <a:lstStyle/>
          <a:p>
            <a:r>
              <a:rPr sz="900" b="1">
                <a:solidFill>
                  <a:srgbClr val="232D37"/>
                </a:solidFill>
                <a:latin typeface="Arial"/>
              </a:rPr>
              <a:t>THE AI SYNDICATE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685800" y="1417320"/>
            <a:ext cx="3383280" cy="502920"/>
          </a:xfrm>
          <a:prstGeom prst="roundRect">
            <a:avLst/>
          </a:prstGeom>
          <a:solidFill>
            <a:srgbClr val="143A5A"/>
          </a:solidFill>
          <a:ln w="16510">
            <a:solidFill>
              <a:srgbClr val="14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t">
            <a:normAutofit/>
          </a:bodyPr>
          <a:lstStyle/>
          <a:p>
            <a:pPr algn="ctr"/>
            <a:r>
              <a:rPr sz="1400" b="1" dirty="0">
                <a:solidFill>
                  <a:schemeClr val="bg1"/>
                </a:solidFill>
                <a:latin typeface="Arial"/>
              </a:rPr>
              <a:t>RESEARCH / DOMAIN REFERENCES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777240" y="1973662"/>
            <a:ext cx="3200400" cy="1672253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 lnSpcReduction="10000"/>
          </a:bodyPr>
          <a:lstStyle/>
          <a:p>
            <a:pPr>
              <a:spcAft>
                <a:spcPts val="400"/>
              </a:spcAft>
              <a:defRPr sz="1019">
                <a:solidFill>
                  <a:srgbClr val="2D3741"/>
                </a:solidFill>
                <a:latin typeface="Aptos"/>
              </a:defRPr>
            </a:pPr>
            <a:r>
              <a:rPr sz="1180" b="0" dirty="0">
                <a:solidFill>
                  <a:srgbClr val="232D37"/>
                </a:solidFill>
                <a:latin typeface="Arial"/>
              </a:rPr>
              <a:t>• NASA GPM IMERG — multi-satellite precipitation estimation for rainfall monitoring.</a:t>
            </a:r>
            <a:endParaRPr lang="en-US" sz="1180" b="0" dirty="0">
              <a:solidFill>
                <a:srgbClr val="232D37"/>
              </a:solidFill>
              <a:latin typeface="Arial"/>
            </a:endParaRPr>
          </a:p>
          <a:p>
            <a:pPr>
              <a:spcAft>
                <a:spcPts val="400"/>
              </a:spcAft>
              <a:defRPr sz="1019">
                <a:solidFill>
                  <a:srgbClr val="2D3741"/>
                </a:solidFill>
                <a:latin typeface="Aptos"/>
              </a:defRPr>
            </a:pPr>
            <a:br>
              <a:rPr dirty="0"/>
            </a:br>
            <a:r>
              <a:rPr sz="1180" b="0" dirty="0">
                <a:solidFill>
                  <a:srgbClr val="232D37"/>
                </a:solidFill>
                <a:latin typeface="Arial"/>
              </a:rPr>
              <a:t>• NDMA / MHA — Indian disaster preparedness, mitigation and response framework.</a:t>
            </a:r>
            <a:endParaRPr lang="en-US" sz="1180" b="0" dirty="0">
              <a:solidFill>
                <a:srgbClr val="232D37"/>
              </a:solidFill>
              <a:latin typeface="Arial"/>
            </a:endParaRPr>
          </a:p>
          <a:p>
            <a:pPr>
              <a:spcAft>
                <a:spcPts val="400"/>
              </a:spcAft>
              <a:defRPr sz="1019">
                <a:solidFill>
                  <a:srgbClr val="2D3741"/>
                </a:solidFill>
                <a:latin typeface="Aptos"/>
              </a:defRPr>
            </a:pPr>
            <a:br>
              <a:rPr dirty="0"/>
            </a:br>
            <a:r>
              <a:rPr sz="1180" b="0" dirty="0">
                <a:solidFill>
                  <a:srgbClr val="232D37"/>
                </a:solidFill>
                <a:latin typeface="Arial"/>
              </a:rPr>
              <a:t>• Research literature supports ML + remote sensing for flood susceptibility and prediction.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251960" y="1417320"/>
            <a:ext cx="3383280" cy="502920"/>
          </a:xfrm>
          <a:prstGeom prst="roundRect">
            <a:avLst/>
          </a:prstGeom>
          <a:solidFill>
            <a:srgbClr val="186EB4"/>
          </a:solidFill>
          <a:ln w="16510">
            <a:solidFill>
              <a:srgbClr val="18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t">
            <a:normAutofit fontScale="92500" lnSpcReduction="20000"/>
          </a:bodyPr>
          <a:lstStyle/>
          <a:p>
            <a:pPr algn="ctr"/>
            <a:r>
              <a:rPr sz="1400" b="1" dirty="0">
                <a:solidFill>
                  <a:schemeClr val="bg1"/>
                </a:solidFill>
                <a:latin typeface="Arial"/>
              </a:rPr>
              <a:t>RESEARCH PAPERS / TECHNICAL REFERENCES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457700" y="1876567"/>
            <a:ext cx="3200400" cy="27525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 fontScale="85000" lnSpcReduction="20000"/>
          </a:bodyPr>
          <a:lstStyle/>
          <a:p>
            <a:pPr>
              <a:spcAft>
                <a:spcPts val="400"/>
              </a:spcAft>
              <a:defRPr sz="1019">
                <a:solidFill>
                  <a:srgbClr val="2D3741"/>
                </a:solidFill>
                <a:latin typeface="Aptos"/>
              </a:defRPr>
            </a:pPr>
            <a:r>
              <a:rPr lang="en-US" sz="1080" dirty="0">
                <a:solidFill>
                  <a:srgbClr val="232D37"/>
                </a:solidFill>
                <a:latin typeface="Arial"/>
              </a:rPr>
              <a:t>[1] </a:t>
            </a:r>
            <a:r>
              <a:rPr lang="en-IN" sz="1300" dirty="0" err="1">
                <a:solidFill>
                  <a:srgbClr val="2D3741"/>
                </a:solidFill>
                <a:latin typeface="Aptos" panose="020B0004020202020204" pitchFamily="34" charset="0"/>
              </a:rPr>
              <a:t>Mosavi</a:t>
            </a:r>
            <a:r>
              <a:rPr lang="en-IN" sz="1300" dirty="0">
                <a:solidFill>
                  <a:srgbClr val="2D3741"/>
                </a:solidFill>
                <a:latin typeface="Aptos" panose="020B0004020202020204" pitchFamily="34" charset="0"/>
              </a:rPr>
              <a:t>, A., Ozturk, P., &amp; Chau, K.-w. (2018). Flood Prediction Using Machine Learning Models: Literature Review. </a:t>
            </a:r>
            <a:r>
              <a:rPr lang="en-IN" sz="1300" i="1" dirty="0">
                <a:solidFill>
                  <a:srgbClr val="2D3741"/>
                </a:solidFill>
                <a:latin typeface="Aptos" panose="020B0004020202020204" pitchFamily="34" charset="0"/>
              </a:rPr>
              <a:t>Water</a:t>
            </a:r>
            <a:r>
              <a:rPr lang="en-IN" sz="1300" dirty="0">
                <a:solidFill>
                  <a:srgbClr val="2D3741"/>
                </a:solidFill>
                <a:latin typeface="Aptos" panose="020B0004020202020204" pitchFamily="34" charset="0"/>
              </a:rPr>
              <a:t>, </a:t>
            </a:r>
            <a:r>
              <a:rPr lang="en-IN" sz="1300" i="1" dirty="0">
                <a:solidFill>
                  <a:srgbClr val="2D3741"/>
                </a:solidFill>
                <a:latin typeface="Aptos" panose="020B0004020202020204" pitchFamily="34" charset="0"/>
              </a:rPr>
              <a:t>10</a:t>
            </a:r>
            <a:r>
              <a:rPr lang="en-IN" sz="1300" dirty="0">
                <a:solidFill>
                  <a:srgbClr val="2D3741"/>
                </a:solidFill>
                <a:latin typeface="Aptos" panose="020B0004020202020204" pitchFamily="34" charset="0"/>
              </a:rPr>
              <a:t>(11), 1536. https://doi.org/10.3390/w10111536</a:t>
            </a:r>
            <a:endParaRPr lang="en-US" sz="1300" b="0" dirty="0">
              <a:solidFill>
                <a:srgbClr val="232D37"/>
              </a:solidFill>
              <a:latin typeface="Aptos" panose="020B0004020202020204" pitchFamily="34" charset="0"/>
            </a:endParaRPr>
          </a:p>
          <a:p>
            <a:pPr>
              <a:spcAft>
                <a:spcPts val="400"/>
              </a:spcAft>
              <a:defRPr sz="1019">
                <a:solidFill>
                  <a:srgbClr val="2D3741"/>
                </a:solidFill>
                <a:latin typeface="Aptos"/>
              </a:defRPr>
            </a:pPr>
            <a:br>
              <a:rPr sz="1300" dirty="0"/>
            </a:br>
            <a:r>
              <a:rPr lang="en-US" sz="1300" dirty="0">
                <a:solidFill>
                  <a:srgbClr val="232D37"/>
                </a:solidFill>
                <a:latin typeface="Arial"/>
              </a:rPr>
              <a:t>[2] </a:t>
            </a:r>
            <a:r>
              <a:rPr lang="en-IN" sz="1300" dirty="0">
                <a:solidFill>
                  <a:srgbClr val="2D3741"/>
                </a:solidFill>
                <a:latin typeface="Aptos" panose="020B0004020202020204" pitchFamily="34" charset="0"/>
              </a:rPr>
              <a:t>Munawar, H. S., Hammad, A. W. A., &amp; Waller, S. T. (2022). Remote Sensing Methods for Flood Prediction: A Review. </a:t>
            </a:r>
            <a:r>
              <a:rPr lang="en-IN" sz="1300" i="1" dirty="0">
                <a:solidFill>
                  <a:srgbClr val="2D3741"/>
                </a:solidFill>
                <a:latin typeface="Aptos" panose="020B0004020202020204" pitchFamily="34" charset="0"/>
              </a:rPr>
              <a:t>Sensors</a:t>
            </a:r>
            <a:r>
              <a:rPr lang="en-IN" sz="1300" dirty="0">
                <a:solidFill>
                  <a:srgbClr val="2D3741"/>
                </a:solidFill>
                <a:latin typeface="Aptos" panose="020B0004020202020204" pitchFamily="34" charset="0"/>
              </a:rPr>
              <a:t>, </a:t>
            </a:r>
            <a:r>
              <a:rPr lang="en-IN" sz="1300" i="1" dirty="0">
                <a:solidFill>
                  <a:srgbClr val="2D3741"/>
                </a:solidFill>
                <a:latin typeface="Aptos" panose="020B0004020202020204" pitchFamily="34" charset="0"/>
              </a:rPr>
              <a:t>22</a:t>
            </a:r>
            <a:r>
              <a:rPr lang="en-IN" sz="1300" dirty="0">
                <a:solidFill>
                  <a:srgbClr val="2D3741"/>
                </a:solidFill>
                <a:latin typeface="Aptos" panose="020B0004020202020204" pitchFamily="34" charset="0"/>
              </a:rPr>
              <a:t>(3), 960. https://doi.org/10.3390/s22030960</a:t>
            </a:r>
            <a:endParaRPr lang="en-US" sz="1300" b="0" dirty="0">
              <a:solidFill>
                <a:srgbClr val="232D37"/>
              </a:solidFill>
              <a:latin typeface="Aptos" panose="020B0004020202020204" pitchFamily="34" charset="0"/>
            </a:endParaRPr>
          </a:p>
          <a:p>
            <a:pPr>
              <a:spcAft>
                <a:spcPts val="400"/>
              </a:spcAft>
              <a:defRPr sz="1019">
                <a:solidFill>
                  <a:srgbClr val="2D3741"/>
                </a:solidFill>
                <a:latin typeface="Aptos"/>
              </a:defRPr>
            </a:pPr>
            <a:br>
              <a:rPr sz="1300" dirty="0"/>
            </a:br>
            <a:r>
              <a:rPr lang="en-US" sz="1300" dirty="0">
                <a:solidFill>
                  <a:srgbClr val="232D37"/>
                </a:solidFill>
                <a:latin typeface="Arial"/>
              </a:rPr>
              <a:t>[3]</a:t>
            </a:r>
            <a:r>
              <a:rPr lang="en-IN" sz="1300" dirty="0">
                <a:solidFill>
                  <a:srgbClr val="2D3741"/>
                </a:solidFill>
                <a:latin typeface="Aptos"/>
              </a:rPr>
              <a:t> </a:t>
            </a:r>
            <a:r>
              <a:rPr lang="en-IN" sz="1300" dirty="0">
                <a:solidFill>
                  <a:srgbClr val="2D374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Naledi </a:t>
            </a:r>
            <a:r>
              <a:rPr lang="en-IN" sz="1300" dirty="0" err="1">
                <a:solidFill>
                  <a:srgbClr val="2D374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Manyaka</a:t>
            </a:r>
            <a:r>
              <a:rPr lang="en-IN" sz="1300" dirty="0">
                <a:solidFill>
                  <a:srgbClr val="2D3741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 et a</a:t>
            </a:r>
            <a:r>
              <a:rPr lang="en-IN" sz="1300" dirty="0">
                <a:solidFill>
                  <a:srgbClr val="2D3741"/>
                </a:solidFill>
                <a:latin typeface="Aptos" panose="020B0004020202020204" pitchFamily="34" charset="0"/>
              </a:rPr>
              <a:t>l</a:t>
            </a:r>
            <a:r>
              <a:rPr sz="1300" b="0" dirty="0">
                <a:solidFill>
                  <a:srgbClr val="232D37"/>
                </a:solidFill>
                <a:latin typeface="Aptos" panose="020B0004020202020204" pitchFamily="34" charset="0"/>
              </a:rPr>
              <a:t>. (2026), Progress in Physical Geography — review of remote sensing + ML flood modelling; DOI: 10.1016/j.pce.2026.104315</a:t>
            </a:r>
            <a:endParaRPr lang="en-US" sz="1300" b="0" dirty="0">
              <a:solidFill>
                <a:srgbClr val="232D37"/>
              </a:solidFill>
              <a:latin typeface="Aptos" panose="020B0004020202020204" pitchFamily="34" charset="0"/>
            </a:endParaRPr>
          </a:p>
          <a:p>
            <a:pPr>
              <a:spcAft>
                <a:spcPts val="400"/>
              </a:spcAft>
              <a:defRPr sz="1019">
                <a:solidFill>
                  <a:srgbClr val="2D3741"/>
                </a:solidFill>
                <a:latin typeface="Aptos"/>
              </a:defRPr>
            </a:pPr>
            <a:br>
              <a:rPr sz="1300" dirty="0"/>
            </a:br>
            <a:r>
              <a:rPr lang="en-US" sz="1300" dirty="0">
                <a:solidFill>
                  <a:srgbClr val="232D37"/>
                </a:solidFill>
                <a:latin typeface="Arial"/>
              </a:rPr>
              <a:t>[4]</a:t>
            </a:r>
            <a:r>
              <a:rPr sz="1300" b="0" dirty="0">
                <a:solidFill>
                  <a:srgbClr val="232D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232D37"/>
                </a:solidFill>
                <a:latin typeface="Aptos" panose="020B0004020202020204" pitchFamily="34" charset="0"/>
              </a:rPr>
              <a:t>Zounema</a:t>
            </a:r>
            <a:r>
              <a:rPr lang="en-US" sz="1300" dirty="0">
                <a:solidFill>
                  <a:srgbClr val="232D37"/>
                </a:solidFill>
                <a:latin typeface="Aptos" panose="020B0004020202020204" pitchFamily="34" charset="0"/>
              </a:rPr>
              <a:t> </a:t>
            </a:r>
            <a:r>
              <a:rPr sz="1300" b="0" dirty="0">
                <a:solidFill>
                  <a:srgbClr val="232D37"/>
                </a:solidFill>
                <a:latin typeface="Aptos" panose="020B0004020202020204" pitchFamily="34" charset="0"/>
              </a:rPr>
              <a:t>Kermani et al. (2021), Journal of Hydrology — ensemble ML in hydrology; DOI: 10.1016/j.jhydrol.2021.126266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7818120" y="1398016"/>
            <a:ext cx="3383280" cy="502920"/>
          </a:xfrm>
          <a:prstGeom prst="roundRect">
            <a:avLst/>
          </a:prstGeom>
          <a:solidFill>
            <a:srgbClr val="2D8B58"/>
          </a:solidFill>
          <a:ln w="16510">
            <a:solidFill>
              <a:srgbClr val="2D8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t">
            <a:normAutofit/>
          </a:bodyPr>
          <a:lstStyle/>
          <a:p>
            <a:pPr algn="ctr"/>
            <a:r>
              <a:rPr sz="1400" b="1" dirty="0">
                <a:solidFill>
                  <a:schemeClr val="bg1"/>
                </a:solidFill>
                <a:latin typeface="Arial"/>
              </a:rPr>
              <a:t>PROJECT VALIDATION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7940368" y="1973663"/>
            <a:ext cx="3200400" cy="200304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normAutofit fontScale="92500"/>
          </a:bodyPr>
          <a:lstStyle/>
          <a:p>
            <a:pPr>
              <a:spcAft>
                <a:spcPts val="400"/>
              </a:spcAft>
              <a:defRPr sz="1000">
                <a:solidFill>
                  <a:srgbClr val="2D3741"/>
                </a:solidFill>
                <a:latin typeface="Aptos"/>
              </a:defRPr>
            </a:pPr>
            <a:r>
              <a:rPr sz="1180" b="0" dirty="0">
                <a:solidFill>
                  <a:srgbClr val="232D37"/>
                </a:solidFill>
                <a:latin typeface="Arial"/>
              </a:rPr>
              <a:t>• 10,000 labeled flood-risk records used for model training</a:t>
            </a:r>
            <a:br>
              <a:rPr dirty="0"/>
            </a:br>
            <a:r>
              <a:rPr sz="1180" b="0" dirty="0">
                <a:solidFill>
                  <a:srgbClr val="232D37"/>
                </a:solidFill>
                <a:latin typeface="Arial"/>
              </a:rPr>
              <a:t>• Historical rainfall + NASA IMERG satellite precipitation pipeline</a:t>
            </a:r>
            <a:br>
              <a:rPr dirty="0"/>
            </a:br>
            <a:r>
              <a:rPr sz="1180" b="0" dirty="0">
                <a:solidFill>
                  <a:srgbClr val="232D37"/>
                </a:solidFill>
                <a:latin typeface="Arial"/>
              </a:rPr>
              <a:t>• Environmental, terrain, river and human-impact factors included</a:t>
            </a:r>
            <a:br>
              <a:rPr dirty="0"/>
            </a:br>
            <a:r>
              <a:rPr sz="1180" b="0" dirty="0">
                <a:solidFill>
                  <a:srgbClr val="232D37"/>
                </a:solidFill>
                <a:latin typeface="Arial"/>
              </a:rPr>
              <a:t>• Random Forest flood prediction model trained</a:t>
            </a:r>
            <a:br>
              <a:rPr dirty="0"/>
            </a:br>
            <a:r>
              <a:rPr sz="1180" b="0" dirty="0">
                <a:solidFill>
                  <a:srgbClr val="232D37"/>
                </a:solidFill>
                <a:latin typeface="Arial"/>
              </a:rPr>
              <a:t>• Live weather + risk engine integrated for automatic alerts</a:t>
            </a:r>
            <a:br>
              <a:rPr dirty="0"/>
            </a:br>
            <a:r>
              <a:rPr sz="1180" b="0" dirty="0">
                <a:solidFill>
                  <a:srgbClr val="232D37"/>
                </a:solidFill>
                <a:latin typeface="Arial"/>
              </a:rPr>
              <a:t>• GIS map, SOS, reports, authentication and response modules tested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1143000" y="4754880"/>
            <a:ext cx="9509760" cy="685800"/>
          </a:xfrm>
          <a:prstGeom prst="roundRect">
            <a:avLst/>
          </a:prstGeom>
          <a:solidFill>
            <a:srgbClr val="143A5A"/>
          </a:solidFill>
          <a:ln w="16510">
            <a:solidFill>
              <a:srgbClr val="143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>
            <a:norm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CORE VISION | Convert rainfall + environmental signals into location-aware flood risk, automatic early warnings and coordinated response.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7716</TotalTime>
  <Words>1085</Words>
  <Application>Microsoft Office PowerPoint</Application>
  <PresentationFormat>Widescreen</PresentationFormat>
  <Paragraphs>130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Aptos</vt:lpstr>
      <vt:lpstr>Aptos Narrow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 </vt:lpstr>
      <vt:lpstr>AI FLOOD PREDICTION PLATFORM</vt:lpstr>
      <vt:lpstr>TECHNICAL APPROACH</vt:lpstr>
      <vt:lpstr>FEASIBILITY AND VIABILITY</vt:lpstr>
      <vt:lpstr>IMPACT AND BENEFITS</vt:lpstr>
      <vt:lpstr>RESEARCH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Kumud Singh</cp:lastModifiedBy>
  <cp:revision>151</cp:revision>
  <dcterms:created xsi:type="dcterms:W3CDTF">2013-12-12T18:46:50Z</dcterms:created>
  <dcterms:modified xsi:type="dcterms:W3CDTF">2026-08-24T17:51:27Z</dcterms:modified>
  <cp:category/>
</cp:coreProperties>
</file>